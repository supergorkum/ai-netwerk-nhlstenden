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Openingsslide. De belofte is de kern: slimmer leren, sterker werken, verantwoord innoveren.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zes uitgangspunten van het manifest, hoofdstuk 1 van de koers.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96% gebruikt AI al. De vraag is niet of, maar hoe: bewust en verantwoord.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drie keuzes: bouwen op het bestaande AI-Netwerk, verbinden zonder over te nemen, en de landelijke Npuls-weg.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Koerslijn 01: AI &amp; Leren. Kernambitie plus vier keuzes en de indicator voor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Koerslijn 02: AI &amp; Werken. Kernambitie plus vier keuzes en de indicator voor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Koerslijn 03: AI &amp; Verantwoordelijkheid. Kernambitie plus vier keuzes en de indicator voor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Koerslijn 04: AI &amp; Geletterdheid. Kernambitie plus vier keuzes en de indicator voor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Koerslijn 05: AI &amp; Werkveld. Kernambitie plus vier keuzes en de indicator voor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Koerslijn 06: AI &amp; Onderzoek. Kernambitie plus vier keuzes en de indicator voor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Twee sandboxes en zes vaste waarborgen: privacy, toezicht, transparantie, documentatie, stoprecht, autonomie.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Onze keuze: het Programma AI. Zes koerslijnen als programmalijnen, gedragen door governance, compliance en de sandboxes.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maatstaf van de koers: wat studenten, medewerkers en de regio elke dag merken.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Funderen in 2026, uitbouwen in 2027 en 2028, verankeren richting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Slot met de belofte als afsluiting.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DA5"/>
        </a:solidFill>
      </p:bgPr>
    </p:bg>
    <p:spTree>
      <p:nvGrpSpPr>
        <p:cNvPr id="1" name=""/>
        <p:cNvGrpSpPr/>
        <p:nvPr/>
      </p:nvGrpSpPr>
      <p:grpSpPr>
        <a:xfrm>
          <a:off x="0" y="0"/>
          <a:ext cx="0" cy="0"/>
          <a:chOff x="0" y="0"/>
          <a:chExt cx="0" cy="0"/>
        </a:xfrm>
      </p:grpSpPr>
      <p:sp>
        <p:nvSpPr>
          <p:cNvPr id="2" name="Shape 0"/>
          <p:cNvSpPr/>
          <p:nvPr/>
        </p:nvSpPr>
        <p:spPr>
          <a:xfrm flipH="1">
            <a:off x="10149840" y="0"/>
            <a:ext cx="2039112" cy="1371600"/>
          </a:xfrm>
          <a:prstGeom prst="rtTriangle">
            <a:avLst/>
          </a:prstGeom>
          <a:solidFill>
            <a:srgbClr val="8C1D82"/>
          </a:solidFill>
          <a:ln/>
        </p:spPr>
      </p:sp>
      <p:sp>
        <p:nvSpPr>
          <p:cNvPr id="3" name="Shape 1"/>
          <p:cNvSpPr/>
          <p:nvPr/>
        </p:nvSpPr>
        <p:spPr>
          <a:xfrm flipH="1" flipV="1">
            <a:off x="10698480" y="960120"/>
            <a:ext cx="1490472" cy="1005840"/>
          </a:xfrm>
          <a:prstGeom prst="rtTriangle">
            <a:avLst/>
          </a:prstGeom>
          <a:solidFill>
            <a:srgbClr val="8C1D82">
              <a:alpha val="65000"/>
            </a:srgbClr>
          </a:solidFill>
          <a:ln/>
        </p:spPr>
      </p:sp>
      <p:sp>
        <p:nvSpPr>
          <p:cNvPr id="4" name="Shape 2"/>
          <p:cNvSpPr/>
          <p:nvPr/>
        </p:nvSpPr>
        <p:spPr>
          <a:xfrm>
            <a:off x="9509760" y="2286000"/>
            <a:ext cx="256032" cy="256032"/>
          </a:xfrm>
          <a:prstGeom prst="diamond">
            <a:avLst/>
          </a:prstGeom>
          <a:solidFill>
            <a:srgbClr val="14181F"/>
          </a:solidFill>
          <a:ln/>
        </p:spPr>
      </p:sp>
      <p:sp>
        <p:nvSpPr>
          <p:cNvPr id="5" name="Shape 3"/>
          <p:cNvSpPr/>
          <p:nvPr/>
        </p:nvSpPr>
        <p:spPr>
          <a:xfrm>
            <a:off x="9820656" y="2596896"/>
            <a:ext cx="256032" cy="256032"/>
          </a:xfrm>
          <a:prstGeom prst="diamond">
            <a:avLst/>
          </a:prstGeom>
          <a:solidFill>
            <a:srgbClr val="14181F">
              <a:alpha val="55000"/>
            </a:srgbClr>
          </a:solidFill>
          <a:ln/>
        </p:spPr>
      </p:sp>
      <p:sp>
        <p:nvSpPr>
          <p:cNvPr id="6" name="Shape 4"/>
          <p:cNvSpPr/>
          <p:nvPr/>
        </p:nvSpPr>
        <p:spPr>
          <a:xfrm>
            <a:off x="685800" y="640080"/>
            <a:ext cx="1417320" cy="914400"/>
          </a:xfrm>
          <a:prstGeom prst="rect">
            <a:avLst/>
          </a:prstGeom>
          <a:ln w="38100">
            <a:solidFill>
              <a:srgbClr val="FFFFFF"/>
            </a:solidFill>
            <a:prstDash val="solid"/>
          </a:ln>
        </p:spPr>
      </p:sp>
      <p:sp>
        <p:nvSpPr>
          <p:cNvPr id="7" name="Text 5"/>
          <p:cNvSpPr/>
          <p:nvPr/>
        </p:nvSpPr>
        <p:spPr>
          <a:xfrm>
            <a:off x="777240" y="676656"/>
            <a:ext cx="1280160" cy="841248"/>
          </a:xfrm>
          <a:prstGeom prst="rect">
            <a:avLst/>
          </a:prstGeom>
          <a:noFill/>
          <a:ln/>
        </p:spPr>
        <p:txBody>
          <a:bodyPr wrap="square" lIns="0" tIns="0" rIns="0" bIns="0" rtlCol="0" anchor="ctr"/>
          <a:lstStyle/>
          <a:p>
            <a:pPr indent="0" marL="0">
              <a:lnSpc>
                <a:spcPts val="1700"/>
              </a:lnSpc>
              <a:buNone/>
            </a:pPr>
            <a:r>
              <a:rPr lang="en-US" sz="1500" b="1" dirty="0">
                <a:solidFill>
                  <a:srgbClr val="FFFFFF"/>
                </a:solidFill>
                <a:latin typeface="Arial" pitchFamily="34" charset="0"/>
                <a:ea typeface="Arial" pitchFamily="34" charset="-122"/>
                <a:cs typeface="Arial" pitchFamily="34" charset="-120"/>
              </a:rPr>
              <a:t>NHL</a:t>
            </a:r>
            <a:endParaRPr lang="en-US" sz="1500" dirty="0"/>
          </a:p>
          <a:p>
            <a:pPr indent="0" marL="0">
              <a:lnSpc>
                <a:spcPts val="1700"/>
              </a:lnSpc>
              <a:buNone/>
            </a:pPr>
            <a:r>
              <a:rPr lang="en-US" sz="1500" b="1" dirty="0">
                <a:solidFill>
                  <a:srgbClr val="FFFFFF"/>
                </a:solidFill>
                <a:latin typeface="Arial" pitchFamily="34" charset="0"/>
                <a:ea typeface="Arial" pitchFamily="34" charset="-122"/>
                <a:cs typeface="Arial" pitchFamily="34" charset="-120"/>
              </a:rPr>
              <a:t>STENDEN</a:t>
            </a:r>
            <a:endParaRPr lang="en-US" sz="1500" dirty="0"/>
          </a:p>
        </p:txBody>
      </p:sp>
      <p:sp>
        <p:nvSpPr>
          <p:cNvPr id="8" name="Text 6"/>
          <p:cNvSpPr/>
          <p:nvPr/>
        </p:nvSpPr>
        <p:spPr>
          <a:xfrm>
            <a:off x="731520" y="2331720"/>
            <a:ext cx="10058400" cy="292608"/>
          </a:xfrm>
          <a:prstGeom prst="rect">
            <a:avLst/>
          </a:prstGeom>
          <a:noFill/>
          <a:ln/>
        </p:spPr>
        <p:txBody>
          <a:bodyPr wrap="square" lIns="0" tIns="0" rIns="0" bIns="0" rtlCol="0" anchor="ctr"/>
          <a:lstStyle/>
          <a:p>
            <a:pPr indent="0" marL="0">
              <a:buNone/>
            </a:pPr>
            <a:r>
              <a:rPr lang="en-US" sz="1100" b="1" spc="300" kern="0" dirty="0">
                <a:solidFill>
                  <a:srgbClr val="C9A8E8"/>
                </a:solidFill>
                <a:latin typeface="Arial" pitchFamily="34" charset="0"/>
                <a:ea typeface="Arial" pitchFamily="34" charset="-122"/>
                <a:cs typeface="Arial" pitchFamily="34" charset="-120"/>
              </a:rPr>
              <a:t>TRANSITIEPROGRAMMA DIGITALISERING  ·  2026 TOT 2030</a:t>
            </a:r>
            <a:endParaRPr lang="en-US" sz="1100" dirty="0"/>
          </a:p>
        </p:txBody>
      </p:sp>
      <p:sp>
        <p:nvSpPr>
          <p:cNvPr id="9" name="Text 7"/>
          <p:cNvSpPr/>
          <p:nvPr/>
        </p:nvSpPr>
        <p:spPr>
          <a:xfrm>
            <a:off x="685800" y="2651760"/>
            <a:ext cx="10789920" cy="100584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AI-Koers NHL Stenden</a:t>
            </a:r>
            <a:endParaRPr lang="en-US" sz="4800" dirty="0"/>
          </a:p>
        </p:txBody>
      </p:sp>
      <p:sp>
        <p:nvSpPr>
          <p:cNvPr id="10" name="Text 8"/>
          <p:cNvSpPr/>
          <p:nvPr/>
        </p:nvSpPr>
        <p:spPr>
          <a:xfrm>
            <a:off x="685800" y="3703320"/>
            <a:ext cx="9601200" cy="640080"/>
          </a:xfrm>
          <a:prstGeom prst="rect">
            <a:avLst/>
          </a:prstGeom>
          <a:noFill/>
          <a:ln/>
        </p:spPr>
        <p:txBody>
          <a:bodyPr wrap="square" lIns="0" tIns="0" rIns="0" bIns="0" rtlCol="0" anchor="ctr"/>
          <a:lstStyle/>
          <a:p>
            <a:pPr indent="0" marL="0">
              <a:buNone/>
            </a:pPr>
            <a:r>
              <a:rPr lang="en-US" sz="2200" b="1" i="1" dirty="0">
                <a:solidFill>
                  <a:srgbClr val="FFFFFF"/>
                </a:solidFill>
                <a:latin typeface="Arial" pitchFamily="34" charset="0"/>
                <a:ea typeface="Arial" pitchFamily="34" charset="-122"/>
                <a:cs typeface="Arial" pitchFamily="34" charset="-120"/>
              </a:rPr>
              <a:t>"Slimmer leren, sterker werken en verantwoord innoveren."</a:t>
            </a:r>
            <a:endParaRPr lang="en-US" sz="2200" dirty="0"/>
          </a:p>
        </p:txBody>
      </p:sp>
      <p:sp>
        <p:nvSpPr>
          <p:cNvPr id="11" name="Text 9"/>
          <p:cNvSpPr/>
          <p:nvPr/>
        </p:nvSpPr>
        <p:spPr>
          <a:xfrm>
            <a:off x="685800" y="4434840"/>
            <a:ext cx="8778240" cy="822960"/>
          </a:xfrm>
          <a:prstGeom prst="rect">
            <a:avLst/>
          </a:prstGeom>
          <a:noFill/>
          <a:ln/>
        </p:spPr>
        <p:txBody>
          <a:bodyPr wrap="square" lIns="0" tIns="0" rIns="0" bIns="0" rtlCol="0" anchor="ctr"/>
          <a:lstStyle/>
          <a:p>
            <a:pPr indent="0" marL="0">
              <a:buNone/>
            </a:pPr>
            <a:r>
              <a:rPr lang="en-US" sz="1400" dirty="0">
                <a:solidFill>
                  <a:srgbClr val="D6E2F7"/>
                </a:solidFill>
                <a:latin typeface="Arial" pitchFamily="34" charset="0"/>
                <a:ea typeface="Arial" pitchFamily="34" charset="-122"/>
                <a:cs typeface="Arial" pitchFamily="34" charset="-120"/>
              </a:rPr>
              <a:t>Wij varen deze koers niet omdat technologie ons dwingt, maar omdat wij zelf willen bepalen hoe AI ons onderwijs, ons onderzoek en ons werk versterkt.</a:t>
            </a:r>
            <a:endParaRPr lang="en-US" sz="1400" dirty="0"/>
          </a:p>
        </p:txBody>
      </p:sp>
      <p:sp>
        <p:nvSpPr>
          <p:cNvPr id="12" name="Text 10"/>
          <p:cNvSpPr/>
          <p:nvPr/>
        </p:nvSpPr>
        <p:spPr>
          <a:xfrm>
            <a:off x="685800" y="6263640"/>
            <a:ext cx="8229600" cy="274320"/>
          </a:xfrm>
          <a:prstGeom prst="rect">
            <a:avLst/>
          </a:prstGeom>
          <a:noFill/>
          <a:ln/>
        </p:spPr>
        <p:txBody>
          <a:bodyPr wrap="square" lIns="0" tIns="0" rIns="0" bIns="0" rtlCol="0" anchor="ctr"/>
          <a:lstStyle/>
          <a:p>
            <a:pPr indent="0" marL="0">
              <a:buNone/>
            </a:pPr>
            <a:r>
              <a:rPr lang="en-US" sz="1050" dirty="0">
                <a:solidFill>
                  <a:srgbClr val="A9BEE3"/>
                </a:solidFill>
                <a:latin typeface="Arial" pitchFamily="34" charset="0"/>
                <a:ea typeface="Arial" pitchFamily="34" charset="-122"/>
                <a:cs typeface="Arial" pitchFamily="34" charset="-120"/>
              </a:rPr>
              <a:t>Versie 0.4 concept  ·  juli 2026  ·  Kwartiermaker Digitale Samenhang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7315200" cy="292608"/>
          </a:xfrm>
          <a:prstGeom prst="rect">
            <a:avLst/>
          </a:prstGeom>
          <a:noFill/>
          <a:ln/>
        </p:spPr>
        <p:txBody>
          <a:bodyPr wrap="square" lIns="0" tIns="0" rIns="0" bIns="0" rtlCol="0" anchor="ctr"/>
          <a:lstStyle/>
          <a:p>
            <a:pPr indent="0" marL="0">
              <a:buNone/>
            </a:pPr>
            <a:r>
              <a:rPr lang="en-US" sz="1100" b="1" spc="300" kern="0" dirty="0">
                <a:solidFill>
                  <a:srgbClr val="8C1D82"/>
                </a:solidFill>
                <a:latin typeface="Arial" pitchFamily="34" charset="0"/>
                <a:ea typeface="Arial" pitchFamily="34" charset="-122"/>
                <a:cs typeface="Arial" pitchFamily="34" charset="-120"/>
              </a:rPr>
              <a:t>01 · MANIFEST</a:t>
            </a:r>
            <a:endParaRPr lang="en-US" sz="1100" dirty="0"/>
          </a:p>
        </p:txBody>
      </p:sp>
      <p:sp>
        <p:nvSpPr>
          <p:cNvPr id="3" name="Text 1"/>
          <p:cNvSpPr/>
          <p:nvPr/>
        </p:nvSpPr>
        <p:spPr>
          <a:xfrm>
            <a:off x="685800" y="749808"/>
            <a:ext cx="9144000" cy="685800"/>
          </a:xfrm>
          <a:prstGeom prst="rect">
            <a:avLst/>
          </a:prstGeom>
          <a:noFill/>
          <a:ln/>
        </p:spPr>
        <p:txBody>
          <a:bodyPr wrap="square" lIns="0" tIns="0" rIns="0" bIns="0" rtlCol="0" anchor="ctr"/>
          <a:lstStyle/>
          <a:p>
            <a:pPr indent="0" marL="0">
              <a:buNone/>
            </a:pPr>
            <a:r>
              <a:rPr lang="en-US" sz="3400" b="1" dirty="0">
                <a:solidFill>
                  <a:srgbClr val="003DA5"/>
                </a:solidFill>
                <a:latin typeface="Arial" pitchFamily="34" charset="0"/>
                <a:ea typeface="Arial" pitchFamily="34" charset="-122"/>
                <a:cs typeface="Arial" pitchFamily="34" charset="-120"/>
              </a:rPr>
              <a:t>Waar wij voor staan</a:t>
            </a:r>
            <a:endParaRPr lang="en-US" sz="3400" dirty="0"/>
          </a:p>
        </p:txBody>
      </p:sp>
      <p:sp>
        <p:nvSpPr>
          <p:cNvPr id="4" name="Shape 2"/>
          <p:cNvSpPr/>
          <p:nvPr/>
        </p:nvSpPr>
        <p:spPr>
          <a:xfrm>
            <a:off x="685800" y="1691640"/>
            <a:ext cx="3474720" cy="2103120"/>
          </a:xfrm>
          <a:prstGeom prst="roundRect">
            <a:avLst>
              <a:gd name="adj" fmla="val 3478"/>
            </a:avLst>
          </a:prstGeom>
          <a:solidFill>
            <a:srgbClr val="F5F6F8"/>
          </a:solidFill>
          <a:ln/>
        </p:spPr>
      </p:sp>
      <p:sp>
        <p:nvSpPr>
          <p:cNvPr id="5" name="Shape 3"/>
          <p:cNvSpPr/>
          <p:nvPr/>
        </p:nvSpPr>
        <p:spPr>
          <a:xfrm>
            <a:off x="914400" y="1920240"/>
            <a:ext cx="384048" cy="384048"/>
          </a:xfrm>
          <a:prstGeom prst="ellipse">
            <a:avLst/>
          </a:prstGeom>
          <a:solidFill>
            <a:srgbClr val="003DA5"/>
          </a:solidFill>
          <a:ln/>
        </p:spPr>
      </p:sp>
      <p:sp>
        <p:nvSpPr>
          <p:cNvPr id="6" name="Text 4"/>
          <p:cNvSpPr/>
          <p:nvPr/>
        </p:nvSpPr>
        <p:spPr>
          <a:xfrm>
            <a:off x="914400" y="1920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435608" y="1947672"/>
            <a:ext cx="2606040" cy="365760"/>
          </a:xfrm>
          <a:prstGeom prst="rect">
            <a:avLst/>
          </a:prstGeom>
          <a:noFill/>
          <a:ln/>
        </p:spPr>
        <p:txBody>
          <a:bodyPr wrap="square" lIns="0" tIns="0" rIns="0" bIns="0" rtlCol="0" anchor="ctr"/>
          <a:lstStyle/>
          <a:p>
            <a:pPr indent="0" marL="0">
              <a:buNone/>
            </a:pPr>
            <a:r>
              <a:rPr lang="en-US" sz="1400" b="1" dirty="0">
                <a:solidFill>
                  <a:srgbClr val="1A2340"/>
                </a:solidFill>
                <a:latin typeface="Arial" pitchFamily="34" charset="0"/>
                <a:ea typeface="Arial" pitchFamily="34" charset="-122"/>
                <a:cs typeface="Arial" pitchFamily="34" charset="-120"/>
              </a:rPr>
              <a:t>Mensen eerst</a:t>
            </a:r>
            <a:endParaRPr lang="en-US" sz="1400" dirty="0"/>
          </a:p>
        </p:txBody>
      </p:sp>
      <p:sp>
        <p:nvSpPr>
          <p:cNvPr id="8" name="Text 6"/>
          <p:cNvSpPr/>
          <p:nvPr/>
        </p:nvSpPr>
        <p:spPr>
          <a:xfrm>
            <a:off x="914400" y="2468880"/>
            <a:ext cx="3017520" cy="1234440"/>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Echte digitale verandering begint bij mensen: bij hoe zij leren, werken en samenwerken. AI is waardevol als mensen eigenaarschap ervaren.</a:t>
            </a:r>
            <a:endParaRPr lang="en-US" sz="1050" dirty="0"/>
          </a:p>
        </p:txBody>
      </p:sp>
      <p:sp>
        <p:nvSpPr>
          <p:cNvPr id="9" name="Shape 7"/>
          <p:cNvSpPr/>
          <p:nvPr/>
        </p:nvSpPr>
        <p:spPr>
          <a:xfrm>
            <a:off x="4389120" y="1691640"/>
            <a:ext cx="3474720" cy="2103120"/>
          </a:xfrm>
          <a:prstGeom prst="roundRect">
            <a:avLst>
              <a:gd name="adj" fmla="val 3478"/>
            </a:avLst>
          </a:prstGeom>
          <a:solidFill>
            <a:srgbClr val="F5F6F8"/>
          </a:solidFill>
          <a:ln/>
        </p:spPr>
      </p:sp>
      <p:sp>
        <p:nvSpPr>
          <p:cNvPr id="10" name="Shape 8"/>
          <p:cNvSpPr/>
          <p:nvPr/>
        </p:nvSpPr>
        <p:spPr>
          <a:xfrm>
            <a:off x="4617720" y="1920240"/>
            <a:ext cx="384048" cy="384048"/>
          </a:xfrm>
          <a:prstGeom prst="ellipse">
            <a:avLst/>
          </a:prstGeom>
          <a:solidFill>
            <a:srgbClr val="003DA5"/>
          </a:solidFill>
          <a:ln/>
        </p:spPr>
      </p:sp>
      <p:sp>
        <p:nvSpPr>
          <p:cNvPr id="11" name="Text 9"/>
          <p:cNvSpPr/>
          <p:nvPr/>
        </p:nvSpPr>
        <p:spPr>
          <a:xfrm>
            <a:off x="4617720" y="1920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5138928" y="1947672"/>
            <a:ext cx="2606040" cy="365760"/>
          </a:xfrm>
          <a:prstGeom prst="rect">
            <a:avLst/>
          </a:prstGeom>
          <a:noFill/>
          <a:ln/>
        </p:spPr>
        <p:txBody>
          <a:bodyPr wrap="square" lIns="0" tIns="0" rIns="0" bIns="0" rtlCol="0" anchor="ctr"/>
          <a:lstStyle/>
          <a:p>
            <a:pPr indent="0" marL="0">
              <a:buNone/>
            </a:pPr>
            <a:r>
              <a:rPr lang="en-US" sz="1400" b="1" dirty="0">
                <a:solidFill>
                  <a:srgbClr val="1A2340"/>
                </a:solidFill>
                <a:latin typeface="Arial" pitchFamily="34" charset="0"/>
                <a:ea typeface="Arial" pitchFamily="34" charset="-122"/>
                <a:cs typeface="Arial" pitchFamily="34" charset="-120"/>
              </a:rPr>
              <a:t>Verantwoord en transparant</a:t>
            </a:r>
            <a:endParaRPr lang="en-US" sz="1400" dirty="0"/>
          </a:p>
        </p:txBody>
      </p:sp>
      <p:sp>
        <p:nvSpPr>
          <p:cNvPr id="13" name="Text 11"/>
          <p:cNvSpPr/>
          <p:nvPr/>
        </p:nvSpPr>
        <p:spPr>
          <a:xfrm>
            <a:off x="4617720" y="2468880"/>
            <a:ext cx="3017520" cy="1234440"/>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Open over welke AI we inzetten, waarom, en met welke risico's. Publieke kernwaarden zijn leidend: rechtvaardigheid, autonomie en menselijkheid.</a:t>
            </a:r>
            <a:endParaRPr lang="en-US" sz="1050" dirty="0"/>
          </a:p>
        </p:txBody>
      </p:sp>
      <p:sp>
        <p:nvSpPr>
          <p:cNvPr id="14" name="Shape 12"/>
          <p:cNvSpPr/>
          <p:nvPr/>
        </p:nvSpPr>
        <p:spPr>
          <a:xfrm>
            <a:off x="8092440" y="1691640"/>
            <a:ext cx="3474720" cy="2103120"/>
          </a:xfrm>
          <a:prstGeom prst="roundRect">
            <a:avLst>
              <a:gd name="adj" fmla="val 3478"/>
            </a:avLst>
          </a:prstGeom>
          <a:solidFill>
            <a:srgbClr val="F5F6F8"/>
          </a:solidFill>
          <a:ln/>
        </p:spPr>
      </p:sp>
      <p:sp>
        <p:nvSpPr>
          <p:cNvPr id="15" name="Shape 13"/>
          <p:cNvSpPr/>
          <p:nvPr/>
        </p:nvSpPr>
        <p:spPr>
          <a:xfrm>
            <a:off x="8321040" y="1920240"/>
            <a:ext cx="384048" cy="384048"/>
          </a:xfrm>
          <a:prstGeom prst="ellipse">
            <a:avLst/>
          </a:prstGeom>
          <a:solidFill>
            <a:srgbClr val="003DA5"/>
          </a:solidFill>
          <a:ln/>
        </p:spPr>
      </p:sp>
      <p:sp>
        <p:nvSpPr>
          <p:cNvPr id="16" name="Text 14"/>
          <p:cNvSpPr/>
          <p:nvPr/>
        </p:nvSpPr>
        <p:spPr>
          <a:xfrm>
            <a:off x="8321040" y="1920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8842248" y="1947672"/>
            <a:ext cx="2606040" cy="365760"/>
          </a:xfrm>
          <a:prstGeom prst="rect">
            <a:avLst/>
          </a:prstGeom>
          <a:noFill/>
          <a:ln/>
        </p:spPr>
        <p:txBody>
          <a:bodyPr wrap="square" lIns="0" tIns="0" rIns="0" bIns="0" rtlCol="0" anchor="ctr"/>
          <a:lstStyle/>
          <a:p>
            <a:pPr indent="0" marL="0">
              <a:buNone/>
            </a:pPr>
            <a:r>
              <a:rPr lang="en-US" sz="1400" b="1" dirty="0">
                <a:solidFill>
                  <a:srgbClr val="1A2340"/>
                </a:solidFill>
                <a:latin typeface="Arial" pitchFamily="34" charset="0"/>
                <a:ea typeface="Arial" pitchFamily="34" charset="-122"/>
                <a:cs typeface="Arial" pitchFamily="34" charset="-120"/>
              </a:rPr>
              <a:t>Samenhang boven eilanden</a:t>
            </a:r>
            <a:endParaRPr lang="en-US" sz="1400" dirty="0"/>
          </a:p>
        </p:txBody>
      </p:sp>
      <p:sp>
        <p:nvSpPr>
          <p:cNvPr id="18" name="Text 16"/>
          <p:cNvSpPr/>
          <p:nvPr/>
        </p:nvSpPr>
        <p:spPr>
          <a:xfrm>
            <a:off x="8321040" y="2468880"/>
            <a:ext cx="3017520" cy="1234440"/>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De zes koerslijnen vormen samen één koers, geen zes losse beleidsthema's. Het AI-Netwerk is het instrument van die samenhang.</a:t>
            </a:r>
            <a:endParaRPr lang="en-US" sz="1050" dirty="0"/>
          </a:p>
        </p:txBody>
      </p:sp>
      <p:sp>
        <p:nvSpPr>
          <p:cNvPr id="19" name="Shape 17"/>
          <p:cNvSpPr/>
          <p:nvPr/>
        </p:nvSpPr>
        <p:spPr>
          <a:xfrm>
            <a:off x="685800" y="4023360"/>
            <a:ext cx="3474720" cy="2103120"/>
          </a:xfrm>
          <a:prstGeom prst="roundRect">
            <a:avLst>
              <a:gd name="adj" fmla="val 3478"/>
            </a:avLst>
          </a:prstGeom>
          <a:solidFill>
            <a:srgbClr val="F5F6F8"/>
          </a:solidFill>
          <a:ln/>
        </p:spPr>
      </p:sp>
      <p:sp>
        <p:nvSpPr>
          <p:cNvPr id="20" name="Shape 18"/>
          <p:cNvSpPr/>
          <p:nvPr/>
        </p:nvSpPr>
        <p:spPr>
          <a:xfrm>
            <a:off x="914400" y="4251960"/>
            <a:ext cx="384048" cy="384048"/>
          </a:xfrm>
          <a:prstGeom prst="ellipse">
            <a:avLst/>
          </a:prstGeom>
          <a:solidFill>
            <a:srgbClr val="003DA5"/>
          </a:solidFill>
          <a:ln/>
        </p:spPr>
      </p:sp>
      <p:sp>
        <p:nvSpPr>
          <p:cNvPr id="21" name="Text 19"/>
          <p:cNvSpPr/>
          <p:nvPr/>
        </p:nvSpPr>
        <p:spPr>
          <a:xfrm>
            <a:off x="914400" y="4251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p:nvPr/>
        </p:nvSpPr>
        <p:spPr>
          <a:xfrm>
            <a:off x="1435608" y="4279392"/>
            <a:ext cx="2606040" cy="365760"/>
          </a:xfrm>
          <a:prstGeom prst="rect">
            <a:avLst/>
          </a:prstGeom>
          <a:noFill/>
          <a:ln/>
        </p:spPr>
        <p:txBody>
          <a:bodyPr wrap="square" lIns="0" tIns="0" rIns="0" bIns="0" rtlCol="0" anchor="ctr"/>
          <a:lstStyle/>
          <a:p>
            <a:pPr indent="0" marL="0">
              <a:buNone/>
            </a:pPr>
            <a:r>
              <a:rPr lang="en-US" sz="1400" b="1" dirty="0">
                <a:solidFill>
                  <a:srgbClr val="1A2340"/>
                </a:solidFill>
                <a:latin typeface="Arial" pitchFamily="34" charset="0"/>
                <a:ea typeface="Arial" pitchFamily="34" charset="-122"/>
                <a:cs typeface="Arial" pitchFamily="34" charset="-120"/>
              </a:rPr>
              <a:t>Verbinden, niet overnemen</a:t>
            </a:r>
            <a:endParaRPr lang="en-US" sz="1400" dirty="0"/>
          </a:p>
        </p:txBody>
      </p:sp>
      <p:sp>
        <p:nvSpPr>
          <p:cNvPr id="23" name="Text 21"/>
          <p:cNvSpPr/>
          <p:nvPr/>
        </p:nvSpPr>
        <p:spPr>
          <a:xfrm>
            <a:off x="914400" y="4800600"/>
            <a:ext cx="3017520" cy="1234440"/>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De inhoud blijft bij de vakeigenaren: het CTL voor toetsing en didactiek, OO&amp;I voor onderwijs en onderzoek. Wij wijzen de weg naar de bron.</a:t>
            </a:r>
            <a:endParaRPr lang="en-US" sz="1050" dirty="0"/>
          </a:p>
        </p:txBody>
      </p:sp>
      <p:sp>
        <p:nvSpPr>
          <p:cNvPr id="24" name="Shape 22"/>
          <p:cNvSpPr/>
          <p:nvPr/>
        </p:nvSpPr>
        <p:spPr>
          <a:xfrm>
            <a:off x="4389120" y="4023360"/>
            <a:ext cx="3474720" cy="2103120"/>
          </a:xfrm>
          <a:prstGeom prst="roundRect">
            <a:avLst>
              <a:gd name="adj" fmla="val 3478"/>
            </a:avLst>
          </a:prstGeom>
          <a:solidFill>
            <a:srgbClr val="F5F6F8"/>
          </a:solidFill>
          <a:ln/>
        </p:spPr>
      </p:sp>
      <p:sp>
        <p:nvSpPr>
          <p:cNvPr id="25" name="Shape 23"/>
          <p:cNvSpPr/>
          <p:nvPr/>
        </p:nvSpPr>
        <p:spPr>
          <a:xfrm>
            <a:off x="4617720" y="4251960"/>
            <a:ext cx="384048" cy="384048"/>
          </a:xfrm>
          <a:prstGeom prst="ellipse">
            <a:avLst/>
          </a:prstGeom>
          <a:solidFill>
            <a:srgbClr val="003DA5"/>
          </a:solidFill>
          <a:ln/>
        </p:spPr>
      </p:sp>
      <p:sp>
        <p:nvSpPr>
          <p:cNvPr id="26" name="Text 24"/>
          <p:cNvSpPr/>
          <p:nvPr/>
        </p:nvSpPr>
        <p:spPr>
          <a:xfrm>
            <a:off x="4617720" y="4251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7" name="Text 25"/>
          <p:cNvSpPr/>
          <p:nvPr/>
        </p:nvSpPr>
        <p:spPr>
          <a:xfrm>
            <a:off x="5138928" y="4279392"/>
            <a:ext cx="2606040" cy="365760"/>
          </a:xfrm>
          <a:prstGeom prst="rect">
            <a:avLst/>
          </a:prstGeom>
          <a:noFill/>
          <a:ln/>
        </p:spPr>
        <p:txBody>
          <a:bodyPr wrap="square" lIns="0" tIns="0" rIns="0" bIns="0" rtlCol="0" anchor="ctr"/>
          <a:lstStyle/>
          <a:p>
            <a:pPr indent="0" marL="0">
              <a:buNone/>
            </a:pPr>
            <a:r>
              <a:rPr lang="en-US" sz="1400" b="1" dirty="0">
                <a:solidFill>
                  <a:srgbClr val="1A2340"/>
                </a:solidFill>
                <a:latin typeface="Arial" pitchFamily="34" charset="0"/>
                <a:ea typeface="Arial" pitchFamily="34" charset="-122"/>
                <a:cs typeface="Arial" pitchFamily="34" charset="-120"/>
              </a:rPr>
              <a:t>Veilig experimenteren</a:t>
            </a:r>
            <a:endParaRPr lang="en-US" sz="1400" dirty="0"/>
          </a:p>
        </p:txBody>
      </p:sp>
      <p:sp>
        <p:nvSpPr>
          <p:cNvPr id="28" name="Text 26"/>
          <p:cNvSpPr/>
          <p:nvPr/>
        </p:nvSpPr>
        <p:spPr>
          <a:xfrm>
            <a:off x="4617720" y="4800600"/>
            <a:ext cx="3017520" cy="1234440"/>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We proberen AI bewust uit: in een sandbox, met privacy by design, menselijk toezicht, documentatie en een stoprecht.</a:t>
            </a:r>
            <a:endParaRPr lang="en-US" sz="1050" dirty="0"/>
          </a:p>
        </p:txBody>
      </p:sp>
      <p:sp>
        <p:nvSpPr>
          <p:cNvPr id="29" name="Shape 27"/>
          <p:cNvSpPr/>
          <p:nvPr/>
        </p:nvSpPr>
        <p:spPr>
          <a:xfrm>
            <a:off x="8092440" y="4023360"/>
            <a:ext cx="3474720" cy="2103120"/>
          </a:xfrm>
          <a:prstGeom prst="roundRect">
            <a:avLst>
              <a:gd name="adj" fmla="val 3478"/>
            </a:avLst>
          </a:prstGeom>
          <a:solidFill>
            <a:srgbClr val="F5F6F8"/>
          </a:solidFill>
          <a:ln/>
        </p:spPr>
      </p:sp>
      <p:sp>
        <p:nvSpPr>
          <p:cNvPr id="30" name="Shape 28"/>
          <p:cNvSpPr/>
          <p:nvPr/>
        </p:nvSpPr>
        <p:spPr>
          <a:xfrm>
            <a:off x="8321040" y="4251960"/>
            <a:ext cx="384048" cy="384048"/>
          </a:xfrm>
          <a:prstGeom prst="ellipse">
            <a:avLst/>
          </a:prstGeom>
          <a:solidFill>
            <a:srgbClr val="003DA5"/>
          </a:solidFill>
          <a:ln/>
        </p:spPr>
      </p:sp>
      <p:sp>
        <p:nvSpPr>
          <p:cNvPr id="31" name="Text 29"/>
          <p:cNvSpPr/>
          <p:nvPr/>
        </p:nvSpPr>
        <p:spPr>
          <a:xfrm>
            <a:off x="8321040" y="4251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Text 30"/>
          <p:cNvSpPr/>
          <p:nvPr/>
        </p:nvSpPr>
        <p:spPr>
          <a:xfrm>
            <a:off x="8842248" y="4279392"/>
            <a:ext cx="2606040" cy="365760"/>
          </a:xfrm>
          <a:prstGeom prst="rect">
            <a:avLst/>
          </a:prstGeom>
          <a:noFill/>
          <a:ln/>
        </p:spPr>
        <p:txBody>
          <a:bodyPr wrap="square" lIns="0" tIns="0" rIns="0" bIns="0" rtlCol="0" anchor="ctr"/>
          <a:lstStyle/>
          <a:p>
            <a:pPr indent="0" marL="0">
              <a:buNone/>
            </a:pPr>
            <a:r>
              <a:rPr lang="en-US" sz="1400" b="1" dirty="0">
                <a:solidFill>
                  <a:srgbClr val="1A2340"/>
                </a:solidFill>
                <a:latin typeface="Arial" pitchFamily="34" charset="0"/>
                <a:ea typeface="Arial" pitchFamily="34" charset="-122"/>
                <a:cs typeface="Arial" pitchFamily="34" charset="-120"/>
              </a:rPr>
              <a:t>De student is de maatstaf</a:t>
            </a:r>
            <a:endParaRPr lang="en-US" sz="1400" dirty="0"/>
          </a:p>
        </p:txBody>
      </p:sp>
      <p:sp>
        <p:nvSpPr>
          <p:cNvPr id="33" name="Text 31"/>
          <p:cNvSpPr/>
          <p:nvPr/>
        </p:nvSpPr>
        <p:spPr>
          <a:xfrm>
            <a:off x="8321040" y="4800600"/>
            <a:ext cx="3017520" cy="1234440"/>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We meten deze koers af aan wat studenten, medewerkers en de regio er elke dag van merken.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7315200" cy="292608"/>
          </a:xfrm>
          <a:prstGeom prst="rect">
            <a:avLst/>
          </a:prstGeom>
          <a:noFill/>
          <a:ln/>
        </p:spPr>
        <p:txBody>
          <a:bodyPr wrap="square" lIns="0" tIns="0" rIns="0" bIns="0" rtlCol="0" anchor="ctr"/>
          <a:lstStyle/>
          <a:p>
            <a:pPr indent="0" marL="0">
              <a:buNone/>
            </a:pPr>
            <a:r>
              <a:rPr lang="en-US" sz="1100" b="1" spc="300" kern="0" dirty="0">
                <a:solidFill>
                  <a:srgbClr val="8C1D82"/>
                </a:solidFill>
                <a:latin typeface="Arial" pitchFamily="34" charset="0"/>
                <a:ea typeface="Arial" pitchFamily="34" charset="-122"/>
                <a:cs typeface="Arial" pitchFamily="34" charset="-120"/>
              </a:rPr>
              <a:t>02 · OMGEVINGSANALYSE</a:t>
            </a:r>
            <a:endParaRPr lang="en-US" sz="1100" dirty="0"/>
          </a:p>
        </p:txBody>
      </p:sp>
      <p:sp>
        <p:nvSpPr>
          <p:cNvPr id="3" name="Text 1"/>
          <p:cNvSpPr/>
          <p:nvPr/>
        </p:nvSpPr>
        <p:spPr>
          <a:xfrm>
            <a:off x="685800" y="749808"/>
            <a:ext cx="9144000" cy="685800"/>
          </a:xfrm>
          <a:prstGeom prst="rect">
            <a:avLst/>
          </a:prstGeom>
          <a:noFill/>
          <a:ln/>
        </p:spPr>
        <p:txBody>
          <a:bodyPr wrap="square" lIns="0" tIns="0" rIns="0" bIns="0" rtlCol="0" anchor="ctr"/>
          <a:lstStyle/>
          <a:p>
            <a:pPr indent="0" marL="0">
              <a:buNone/>
            </a:pPr>
            <a:r>
              <a:rPr lang="en-US" sz="3400" b="1" dirty="0">
                <a:solidFill>
                  <a:srgbClr val="003DA5"/>
                </a:solidFill>
                <a:latin typeface="Arial" pitchFamily="34" charset="0"/>
                <a:ea typeface="Arial" pitchFamily="34" charset="-122"/>
                <a:cs typeface="Arial" pitchFamily="34" charset="-120"/>
              </a:rPr>
              <a:t>De wereld om ons heen</a:t>
            </a:r>
            <a:endParaRPr lang="en-US" sz="3400" dirty="0"/>
          </a:p>
        </p:txBody>
      </p:sp>
      <p:sp>
        <p:nvSpPr>
          <p:cNvPr id="4" name="Text 2"/>
          <p:cNvSpPr/>
          <p:nvPr/>
        </p:nvSpPr>
        <p:spPr>
          <a:xfrm>
            <a:off x="685800" y="1600200"/>
            <a:ext cx="3383280" cy="868680"/>
          </a:xfrm>
          <a:prstGeom prst="rect">
            <a:avLst/>
          </a:prstGeom>
          <a:noFill/>
          <a:ln/>
        </p:spPr>
        <p:txBody>
          <a:bodyPr wrap="square" lIns="0" tIns="0" rIns="0" bIns="0" rtlCol="0" anchor="ctr"/>
          <a:lstStyle/>
          <a:p>
            <a:pPr indent="0" marL="0">
              <a:buNone/>
            </a:pPr>
            <a:r>
              <a:rPr lang="en-US" sz="5400" b="1" dirty="0">
                <a:solidFill>
                  <a:srgbClr val="003DA5"/>
                </a:solidFill>
                <a:latin typeface="Arial" pitchFamily="34" charset="0"/>
                <a:ea typeface="Arial" pitchFamily="34" charset="-122"/>
                <a:cs typeface="Arial" pitchFamily="34" charset="-120"/>
              </a:rPr>
              <a:t>96%</a:t>
            </a:r>
            <a:endParaRPr lang="en-US" sz="5400" dirty="0"/>
          </a:p>
        </p:txBody>
      </p:sp>
      <p:sp>
        <p:nvSpPr>
          <p:cNvPr id="5" name="Text 3"/>
          <p:cNvSpPr/>
          <p:nvPr/>
        </p:nvSpPr>
        <p:spPr>
          <a:xfrm>
            <a:off x="685800" y="2514600"/>
            <a:ext cx="3200400" cy="640080"/>
          </a:xfrm>
          <a:prstGeom prst="rect">
            <a:avLst/>
          </a:prstGeom>
          <a:noFill/>
          <a:ln/>
        </p:spPr>
        <p:txBody>
          <a:bodyPr wrap="square" lIns="0" tIns="0" rIns="0" bIns="0" rtlCol="0" anchor="ctr"/>
          <a:lstStyle/>
          <a:p>
            <a:pPr indent="0" marL="0">
              <a:buNone/>
            </a:pPr>
            <a:r>
              <a:rPr lang="en-US" sz="1150" dirty="0">
                <a:solidFill>
                  <a:srgbClr val="4A5568"/>
                </a:solidFill>
                <a:latin typeface="Arial" pitchFamily="34" charset="0"/>
                <a:ea typeface="Arial" pitchFamily="34" charset="-122"/>
                <a:cs typeface="Arial" pitchFamily="34" charset="-120"/>
              </a:rPr>
              <a:t>van studenten en docenten gebruikt generatieve AI actief</a:t>
            </a:r>
            <a:endParaRPr lang="en-US" sz="1150" dirty="0"/>
          </a:p>
        </p:txBody>
      </p:sp>
      <p:sp>
        <p:nvSpPr>
          <p:cNvPr id="6" name="Text 4"/>
          <p:cNvSpPr/>
          <p:nvPr/>
        </p:nvSpPr>
        <p:spPr>
          <a:xfrm>
            <a:off x="4389120" y="1600200"/>
            <a:ext cx="3383280" cy="868680"/>
          </a:xfrm>
          <a:prstGeom prst="rect">
            <a:avLst/>
          </a:prstGeom>
          <a:noFill/>
          <a:ln/>
        </p:spPr>
        <p:txBody>
          <a:bodyPr wrap="square" lIns="0" tIns="0" rIns="0" bIns="0" rtlCol="0" anchor="ctr"/>
          <a:lstStyle/>
          <a:p>
            <a:pPr indent="0" marL="0">
              <a:buNone/>
            </a:pPr>
            <a:r>
              <a:rPr lang="en-US" sz="5400" b="1" dirty="0">
                <a:solidFill>
                  <a:srgbClr val="8C1D82"/>
                </a:solidFill>
                <a:latin typeface="Arial" pitchFamily="34" charset="0"/>
                <a:ea typeface="Arial" pitchFamily="34" charset="-122"/>
                <a:cs typeface="Arial" pitchFamily="34" charset="-120"/>
              </a:rPr>
              <a:t>2/3</a:t>
            </a:r>
            <a:endParaRPr lang="en-US" sz="5400" dirty="0"/>
          </a:p>
        </p:txBody>
      </p:sp>
      <p:sp>
        <p:nvSpPr>
          <p:cNvPr id="7" name="Text 5"/>
          <p:cNvSpPr/>
          <p:nvPr/>
        </p:nvSpPr>
        <p:spPr>
          <a:xfrm>
            <a:off x="4389120" y="2514600"/>
            <a:ext cx="3200400" cy="640080"/>
          </a:xfrm>
          <a:prstGeom prst="rect">
            <a:avLst/>
          </a:prstGeom>
          <a:noFill/>
          <a:ln/>
        </p:spPr>
        <p:txBody>
          <a:bodyPr wrap="square" lIns="0" tIns="0" rIns="0" bIns="0" rtlCol="0" anchor="ctr"/>
          <a:lstStyle/>
          <a:p>
            <a:pPr indent="0" marL="0">
              <a:buNone/>
            </a:pPr>
            <a:r>
              <a:rPr lang="en-US" sz="1150" dirty="0">
                <a:solidFill>
                  <a:srgbClr val="4A5568"/>
                </a:solidFill>
                <a:latin typeface="Arial" pitchFamily="34" charset="0"/>
                <a:ea typeface="Arial" pitchFamily="34" charset="-122"/>
                <a:cs typeface="Arial" pitchFamily="34" charset="-120"/>
              </a:rPr>
              <a:t>van hogescholen en universiteiten heeft een formeel AI-beleid</a:t>
            </a:r>
            <a:endParaRPr lang="en-US" sz="1150" dirty="0"/>
          </a:p>
        </p:txBody>
      </p:sp>
      <p:sp>
        <p:nvSpPr>
          <p:cNvPr id="8" name="Text 6"/>
          <p:cNvSpPr/>
          <p:nvPr/>
        </p:nvSpPr>
        <p:spPr>
          <a:xfrm>
            <a:off x="8092440" y="1600200"/>
            <a:ext cx="3383280" cy="868680"/>
          </a:xfrm>
          <a:prstGeom prst="rect">
            <a:avLst/>
          </a:prstGeom>
          <a:noFill/>
          <a:ln/>
        </p:spPr>
        <p:txBody>
          <a:bodyPr wrap="square" lIns="0" tIns="0" rIns="0" bIns="0" rtlCol="0" anchor="ctr"/>
          <a:lstStyle/>
          <a:p>
            <a:pPr indent="0" marL="0">
              <a:buNone/>
            </a:pPr>
            <a:r>
              <a:rPr lang="en-US" sz="5400" b="1" dirty="0">
                <a:solidFill>
                  <a:srgbClr val="1E3A8A"/>
                </a:solidFill>
                <a:latin typeface="Arial" pitchFamily="34" charset="0"/>
                <a:ea typeface="Arial" pitchFamily="34" charset="-122"/>
                <a:cs typeface="Arial" pitchFamily="34" charset="-120"/>
              </a:rPr>
              <a:t>56%</a:t>
            </a:r>
            <a:endParaRPr lang="en-US" sz="5400" dirty="0"/>
          </a:p>
        </p:txBody>
      </p:sp>
      <p:sp>
        <p:nvSpPr>
          <p:cNvPr id="9" name="Text 7"/>
          <p:cNvSpPr/>
          <p:nvPr/>
        </p:nvSpPr>
        <p:spPr>
          <a:xfrm>
            <a:off x="8092440" y="2514600"/>
            <a:ext cx="3200400" cy="640080"/>
          </a:xfrm>
          <a:prstGeom prst="rect">
            <a:avLst/>
          </a:prstGeom>
          <a:noFill/>
          <a:ln/>
        </p:spPr>
        <p:txBody>
          <a:bodyPr wrap="square" lIns="0" tIns="0" rIns="0" bIns="0" rtlCol="0" anchor="ctr"/>
          <a:lstStyle/>
          <a:p>
            <a:pPr indent="0" marL="0">
              <a:buNone/>
            </a:pPr>
            <a:r>
              <a:rPr lang="en-US" sz="1150" dirty="0">
                <a:solidFill>
                  <a:srgbClr val="4A5568"/>
                </a:solidFill>
                <a:latin typeface="Arial" pitchFamily="34" charset="0"/>
                <a:ea typeface="Arial" pitchFamily="34" charset="-122"/>
                <a:cs typeface="Arial" pitchFamily="34" charset="-120"/>
              </a:rPr>
              <a:t>hogere beloning voor medewerkers met AI-vaardigheden</a:t>
            </a:r>
            <a:endParaRPr lang="en-US" sz="1150" dirty="0"/>
          </a:p>
        </p:txBody>
      </p:sp>
      <p:sp>
        <p:nvSpPr>
          <p:cNvPr id="10" name="Shape 8"/>
          <p:cNvSpPr/>
          <p:nvPr/>
        </p:nvSpPr>
        <p:spPr>
          <a:xfrm>
            <a:off x="685800" y="3520440"/>
            <a:ext cx="5349240" cy="1234440"/>
          </a:xfrm>
          <a:prstGeom prst="roundRect">
            <a:avLst>
              <a:gd name="adj" fmla="val 5185"/>
            </a:avLst>
          </a:prstGeom>
          <a:solidFill>
            <a:srgbClr val="F5F6F8"/>
          </a:solidFill>
          <a:ln/>
        </p:spPr>
      </p:sp>
      <p:sp>
        <p:nvSpPr>
          <p:cNvPr id="11" name="Text 9"/>
          <p:cNvSpPr/>
          <p:nvPr/>
        </p:nvSpPr>
        <p:spPr>
          <a:xfrm>
            <a:off x="914400" y="3666744"/>
            <a:ext cx="4937760" cy="256032"/>
          </a:xfrm>
          <a:prstGeom prst="rect">
            <a:avLst/>
          </a:prstGeom>
          <a:noFill/>
          <a:ln/>
        </p:spPr>
        <p:txBody>
          <a:bodyPr wrap="square" lIns="0" tIns="0" rIns="0" bIns="0" rtlCol="0" anchor="ctr"/>
          <a:lstStyle/>
          <a:p>
            <a:pPr indent="0" marL="0">
              <a:buNone/>
            </a:pPr>
            <a:r>
              <a:rPr lang="en-US" sz="1050" b="1" spc="200" kern="0" dirty="0">
                <a:solidFill>
                  <a:srgbClr val="003DA5"/>
                </a:solidFill>
                <a:latin typeface="Arial" pitchFamily="34" charset="0"/>
                <a:ea typeface="Arial" pitchFamily="34" charset="-122"/>
                <a:cs typeface="Arial" pitchFamily="34" charset="-120"/>
              </a:rPr>
              <a:t>EUROPESE AI ACT</a:t>
            </a:r>
            <a:endParaRPr lang="en-US" sz="1050" dirty="0"/>
          </a:p>
        </p:txBody>
      </p:sp>
      <p:sp>
        <p:nvSpPr>
          <p:cNvPr id="12" name="Text 10"/>
          <p:cNvSpPr/>
          <p:nvPr/>
        </p:nvSpPr>
        <p:spPr>
          <a:xfrm>
            <a:off x="914400" y="3959352"/>
            <a:ext cx="4937760" cy="731520"/>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AI-geletterdheid verplicht sinds februari 2025; AI in het onderwijs is hoog-risico. NHL Stenden is rechtstreeks geraakt.</a:t>
            </a:r>
            <a:endParaRPr lang="en-US" sz="1050" dirty="0"/>
          </a:p>
        </p:txBody>
      </p:sp>
      <p:sp>
        <p:nvSpPr>
          <p:cNvPr id="13" name="Shape 11"/>
          <p:cNvSpPr/>
          <p:nvPr/>
        </p:nvSpPr>
        <p:spPr>
          <a:xfrm>
            <a:off x="6263640" y="3520440"/>
            <a:ext cx="5349240" cy="1234440"/>
          </a:xfrm>
          <a:prstGeom prst="roundRect">
            <a:avLst>
              <a:gd name="adj" fmla="val 5185"/>
            </a:avLst>
          </a:prstGeom>
          <a:solidFill>
            <a:srgbClr val="F5F6F8"/>
          </a:solidFill>
          <a:ln/>
        </p:spPr>
      </p:sp>
      <p:sp>
        <p:nvSpPr>
          <p:cNvPr id="14" name="Text 12"/>
          <p:cNvSpPr/>
          <p:nvPr/>
        </p:nvSpPr>
        <p:spPr>
          <a:xfrm>
            <a:off x="6492240" y="3666744"/>
            <a:ext cx="4937760" cy="256032"/>
          </a:xfrm>
          <a:prstGeom prst="rect">
            <a:avLst/>
          </a:prstGeom>
          <a:noFill/>
          <a:ln/>
        </p:spPr>
        <p:txBody>
          <a:bodyPr wrap="square" lIns="0" tIns="0" rIns="0" bIns="0" rtlCol="0" anchor="ctr"/>
          <a:lstStyle/>
          <a:p>
            <a:pPr indent="0" marL="0">
              <a:buNone/>
            </a:pPr>
            <a:r>
              <a:rPr lang="en-US" sz="1050" b="1" spc="200" kern="0" dirty="0">
                <a:solidFill>
                  <a:srgbClr val="8C1D82"/>
                </a:solidFill>
                <a:latin typeface="Arial" pitchFamily="34" charset="0"/>
                <a:ea typeface="Arial" pitchFamily="34" charset="-122"/>
                <a:cs typeface="Arial" pitchFamily="34" charset="-120"/>
              </a:rPr>
              <a:t>NPULS EN EDUGENAI</a:t>
            </a:r>
            <a:endParaRPr lang="en-US" sz="1050" dirty="0"/>
          </a:p>
        </p:txBody>
      </p:sp>
      <p:sp>
        <p:nvSpPr>
          <p:cNvPr id="15" name="Text 13"/>
          <p:cNvSpPr/>
          <p:nvPr/>
        </p:nvSpPr>
        <p:spPr>
          <a:xfrm>
            <a:off x="6492240" y="3959352"/>
            <a:ext cx="4937760" cy="731520"/>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Ruim 560 miljoen euro landelijke investering. Deze koers is onze invulling van de belofte AI en data waarde(n)vol inzetten.</a:t>
            </a:r>
            <a:endParaRPr lang="en-US" sz="1050" dirty="0"/>
          </a:p>
        </p:txBody>
      </p:sp>
      <p:sp>
        <p:nvSpPr>
          <p:cNvPr id="16" name="Shape 14"/>
          <p:cNvSpPr/>
          <p:nvPr/>
        </p:nvSpPr>
        <p:spPr>
          <a:xfrm>
            <a:off x="685800" y="4937760"/>
            <a:ext cx="5349240" cy="1234440"/>
          </a:xfrm>
          <a:prstGeom prst="roundRect">
            <a:avLst>
              <a:gd name="adj" fmla="val 5185"/>
            </a:avLst>
          </a:prstGeom>
          <a:solidFill>
            <a:srgbClr val="F5F6F8"/>
          </a:solidFill>
          <a:ln/>
        </p:spPr>
      </p:sp>
      <p:sp>
        <p:nvSpPr>
          <p:cNvPr id="17" name="Text 15"/>
          <p:cNvSpPr/>
          <p:nvPr/>
        </p:nvSpPr>
        <p:spPr>
          <a:xfrm>
            <a:off x="914400" y="5084064"/>
            <a:ext cx="4937760" cy="256032"/>
          </a:xfrm>
          <a:prstGeom prst="rect">
            <a:avLst/>
          </a:prstGeom>
          <a:noFill/>
          <a:ln/>
        </p:spPr>
        <p:txBody>
          <a:bodyPr wrap="square" lIns="0" tIns="0" rIns="0" bIns="0" rtlCol="0" anchor="ctr"/>
          <a:lstStyle/>
          <a:p>
            <a:pPr indent="0" marL="0">
              <a:buNone/>
            </a:pPr>
            <a:r>
              <a:rPr lang="en-US" sz="1050" b="1" spc="200" kern="0" dirty="0">
                <a:solidFill>
                  <a:srgbClr val="0F766E"/>
                </a:solidFill>
                <a:latin typeface="Arial" pitchFamily="34" charset="0"/>
                <a:ea typeface="Arial" pitchFamily="34" charset="-122"/>
                <a:cs typeface="Arial" pitchFamily="34" charset="-120"/>
              </a:rPr>
              <a:t>PEERS EN BENCHMARKS</a:t>
            </a:r>
            <a:endParaRPr lang="en-US" sz="1050" dirty="0"/>
          </a:p>
        </p:txBody>
      </p:sp>
      <p:sp>
        <p:nvSpPr>
          <p:cNvPr id="18" name="Text 16"/>
          <p:cNvSpPr/>
          <p:nvPr/>
        </p:nvSpPr>
        <p:spPr>
          <a:xfrm>
            <a:off x="914400" y="5376672"/>
            <a:ext cx="4937760" cy="731520"/>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Utrecht, Hanze, HAN en Leiden kiezen elk hun aanpak. NHL Stenden leert van peers en kiest bewust een netwerkbenadering.</a:t>
            </a:r>
            <a:endParaRPr lang="en-US" sz="1050" dirty="0"/>
          </a:p>
        </p:txBody>
      </p:sp>
      <p:sp>
        <p:nvSpPr>
          <p:cNvPr id="19" name="Shape 17"/>
          <p:cNvSpPr/>
          <p:nvPr/>
        </p:nvSpPr>
        <p:spPr>
          <a:xfrm>
            <a:off x="6263640" y="4937760"/>
            <a:ext cx="5349240" cy="1234440"/>
          </a:xfrm>
          <a:prstGeom prst="roundRect">
            <a:avLst>
              <a:gd name="adj" fmla="val 5185"/>
            </a:avLst>
          </a:prstGeom>
          <a:solidFill>
            <a:srgbClr val="F5F6F8"/>
          </a:solidFill>
          <a:ln/>
        </p:spPr>
      </p:sp>
      <p:sp>
        <p:nvSpPr>
          <p:cNvPr id="20" name="Text 18"/>
          <p:cNvSpPr/>
          <p:nvPr/>
        </p:nvSpPr>
        <p:spPr>
          <a:xfrm>
            <a:off x="6492240" y="5084064"/>
            <a:ext cx="4937760" cy="256032"/>
          </a:xfrm>
          <a:prstGeom prst="rect">
            <a:avLst/>
          </a:prstGeom>
          <a:noFill/>
          <a:ln/>
        </p:spPr>
        <p:txBody>
          <a:bodyPr wrap="square" lIns="0" tIns="0" rIns="0" bIns="0" rtlCol="0" anchor="ctr"/>
          <a:lstStyle/>
          <a:p>
            <a:pPr indent="0" marL="0">
              <a:buNone/>
            </a:pPr>
            <a:r>
              <a:rPr lang="en-US" sz="1050" b="1" spc="200" kern="0" dirty="0">
                <a:solidFill>
                  <a:srgbClr val="0E7490"/>
                </a:solidFill>
                <a:latin typeface="Arial" pitchFamily="34" charset="0"/>
                <a:ea typeface="Arial" pitchFamily="34" charset="-122"/>
                <a:cs typeface="Arial" pitchFamily="34" charset="-120"/>
              </a:rPr>
              <a:t>REGIONALE POSITIE</a:t>
            </a:r>
            <a:endParaRPr lang="en-US" sz="1050" dirty="0"/>
          </a:p>
        </p:txBody>
      </p:sp>
      <p:sp>
        <p:nvSpPr>
          <p:cNvPr id="21" name="Text 19"/>
          <p:cNvSpPr/>
          <p:nvPr/>
        </p:nvSpPr>
        <p:spPr>
          <a:xfrm>
            <a:off x="6492240" y="5376672"/>
            <a:ext cx="4937760" cy="731520"/>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Met Computer Vision &amp; Data Science en I'M A.I. een erkend regionaal AI-kenniscentrum, met Frisius MC en het MKB.</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1F5C"/>
        </a:solidFill>
      </p:bgPr>
    </p:bg>
    <p:spTree>
      <p:nvGrpSpPr>
        <p:cNvPr id="1" name=""/>
        <p:cNvGrpSpPr/>
        <p:nvPr/>
      </p:nvGrpSpPr>
      <p:grpSpPr>
        <a:xfrm>
          <a:off x="0" y="0"/>
          <a:ext cx="0" cy="0"/>
          <a:chOff x="0" y="0"/>
          <a:chExt cx="0" cy="0"/>
        </a:xfrm>
      </p:grpSpPr>
      <p:sp>
        <p:nvSpPr>
          <p:cNvPr id="2" name="Shape 0"/>
          <p:cNvSpPr/>
          <p:nvPr/>
        </p:nvSpPr>
        <p:spPr>
          <a:xfrm flipH="1">
            <a:off x="10149840" y="0"/>
            <a:ext cx="2039112" cy="1371600"/>
          </a:xfrm>
          <a:prstGeom prst="rtTriangle">
            <a:avLst/>
          </a:prstGeom>
          <a:solidFill>
            <a:srgbClr val="8C1D82"/>
          </a:solidFill>
          <a:ln/>
        </p:spPr>
      </p:sp>
      <p:sp>
        <p:nvSpPr>
          <p:cNvPr id="3" name="Shape 1"/>
          <p:cNvSpPr/>
          <p:nvPr/>
        </p:nvSpPr>
        <p:spPr>
          <a:xfrm flipH="1" flipV="1">
            <a:off x="10698480" y="960120"/>
            <a:ext cx="1490472" cy="1005840"/>
          </a:xfrm>
          <a:prstGeom prst="rtTriangle">
            <a:avLst/>
          </a:prstGeom>
          <a:solidFill>
            <a:srgbClr val="8C1D82">
              <a:alpha val="65000"/>
            </a:srgbClr>
          </a:solidFill>
          <a:ln/>
        </p:spPr>
      </p:sp>
      <p:sp>
        <p:nvSpPr>
          <p:cNvPr id="4" name="Text 2"/>
          <p:cNvSpPr/>
          <p:nvPr/>
        </p:nvSpPr>
        <p:spPr>
          <a:xfrm>
            <a:off x="685800" y="457200"/>
            <a:ext cx="7315200" cy="292608"/>
          </a:xfrm>
          <a:prstGeom prst="rect">
            <a:avLst/>
          </a:prstGeom>
          <a:noFill/>
          <a:ln/>
        </p:spPr>
        <p:txBody>
          <a:bodyPr wrap="square" lIns="0" tIns="0" rIns="0" bIns="0" rtlCol="0" anchor="ctr"/>
          <a:lstStyle/>
          <a:p>
            <a:pPr indent="0" marL="0">
              <a:buNone/>
            </a:pPr>
            <a:r>
              <a:rPr lang="en-US" sz="1100" b="1" spc="300" kern="0" dirty="0">
                <a:solidFill>
                  <a:srgbClr val="C9A8E8"/>
                </a:solidFill>
                <a:latin typeface="Arial" pitchFamily="34" charset="0"/>
                <a:ea typeface="Arial" pitchFamily="34" charset="-122"/>
                <a:cs typeface="Arial" pitchFamily="34" charset="-120"/>
              </a:rPr>
              <a:t>03 · ONS VERTREKPUNT</a:t>
            </a:r>
            <a:endParaRPr lang="en-US" sz="1100" dirty="0"/>
          </a:p>
        </p:txBody>
      </p:sp>
      <p:sp>
        <p:nvSpPr>
          <p:cNvPr id="5" name="Text 3"/>
          <p:cNvSpPr/>
          <p:nvPr/>
        </p:nvSpPr>
        <p:spPr>
          <a:xfrm>
            <a:off x="685800" y="749808"/>
            <a:ext cx="9144000" cy="6858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Drie keuzes dragen deze koers</a:t>
            </a:r>
            <a:endParaRPr lang="en-US" sz="3400" dirty="0"/>
          </a:p>
        </p:txBody>
      </p:sp>
      <p:sp>
        <p:nvSpPr>
          <p:cNvPr id="6" name="Text 4"/>
          <p:cNvSpPr/>
          <p:nvPr/>
        </p:nvSpPr>
        <p:spPr>
          <a:xfrm>
            <a:off x="685800" y="1463040"/>
            <a:ext cx="8229600" cy="365760"/>
          </a:xfrm>
          <a:prstGeom prst="rect">
            <a:avLst/>
          </a:prstGeom>
          <a:noFill/>
          <a:ln/>
        </p:spPr>
        <p:txBody>
          <a:bodyPr wrap="square" lIns="0" tIns="0" rIns="0" bIns="0" rtlCol="0" anchor="ctr"/>
          <a:lstStyle/>
          <a:p>
            <a:pPr indent="0" marL="0">
              <a:buNone/>
            </a:pPr>
            <a:r>
              <a:rPr lang="en-US" sz="1400" i="1" dirty="0">
                <a:solidFill>
                  <a:srgbClr val="C4D3F0"/>
                </a:solidFill>
                <a:latin typeface="Arial" pitchFamily="34" charset="0"/>
                <a:ea typeface="Arial" pitchFamily="34" charset="-122"/>
                <a:cs typeface="Arial" pitchFamily="34" charset="-120"/>
              </a:rPr>
              <a:t>Wij beginnen niet bij nul, en wij beginnen niet alleen.</a:t>
            </a:r>
            <a:endParaRPr lang="en-US" sz="1400" dirty="0"/>
          </a:p>
        </p:txBody>
      </p:sp>
      <p:sp>
        <p:nvSpPr>
          <p:cNvPr id="7" name="Shape 5"/>
          <p:cNvSpPr/>
          <p:nvPr/>
        </p:nvSpPr>
        <p:spPr>
          <a:xfrm>
            <a:off x="685800" y="2057400"/>
            <a:ext cx="3474720" cy="2651760"/>
          </a:xfrm>
          <a:prstGeom prst="roundRect">
            <a:avLst>
              <a:gd name="adj" fmla="val 2759"/>
            </a:avLst>
          </a:prstGeom>
          <a:solidFill>
            <a:srgbClr val="0A2E6E"/>
          </a:solidFill>
          <a:ln w="12700">
            <a:solidFill>
              <a:srgbClr val="3C5EA8"/>
            </a:solidFill>
            <a:prstDash val="solid"/>
          </a:ln>
        </p:spPr>
      </p:sp>
      <p:sp>
        <p:nvSpPr>
          <p:cNvPr id="8" name="Text 6"/>
          <p:cNvSpPr/>
          <p:nvPr/>
        </p:nvSpPr>
        <p:spPr>
          <a:xfrm>
            <a:off x="941832" y="2286000"/>
            <a:ext cx="914400" cy="365760"/>
          </a:xfrm>
          <a:prstGeom prst="rect">
            <a:avLst/>
          </a:prstGeom>
          <a:noFill/>
          <a:ln/>
        </p:spPr>
        <p:txBody>
          <a:bodyPr wrap="square" lIns="0" tIns="0" rIns="0" bIns="0" rtlCol="0" anchor="ctr"/>
          <a:lstStyle/>
          <a:p>
            <a:pPr indent="0" marL="0">
              <a:buNone/>
            </a:pPr>
            <a:r>
              <a:rPr lang="en-US" sz="1600" b="1" spc="300" kern="0" dirty="0">
                <a:solidFill>
                  <a:srgbClr val="C9A8E8"/>
                </a:solidFill>
                <a:latin typeface="Arial" pitchFamily="34" charset="0"/>
                <a:ea typeface="Arial" pitchFamily="34" charset="-122"/>
                <a:cs typeface="Arial" pitchFamily="34" charset="-120"/>
              </a:rPr>
              <a:t>I</a:t>
            </a:r>
            <a:endParaRPr lang="en-US" sz="1600" dirty="0"/>
          </a:p>
        </p:txBody>
      </p:sp>
      <p:sp>
        <p:nvSpPr>
          <p:cNvPr id="9" name="Text 7"/>
          <p:cNvSpPr/>
          <p:nvPr/>
        </p:nvSpPr>
        <p:spPr>
          <a:xfrm>
            <a:off x="941832" y="2697480"/>
            <a:ext cx="2971800" cy="685800"/>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Wij bouwen op wat er al is</a:t>
            </a:r>
            <a:endParaRPr lang="en-US" sz="1550" dirty="0"/>
          </a:p>
        </p:txBody>
      </p:sp>
      <p:sp>
        <p:nvSpPr>
          <p:cNvPr id="10" name="Text 8"/>
          <p:cNvSpPr/>
          <p:nvPr/>
        </p:nvSpPr>
        <p:spPr>
          <a:xfrm>
            <a:off x="941832" y="3383280"/>
            <a:ext cx="2971800" cy="1234440"/>
          </a:xfrm>
          <a:prstGeom prst="rect">
            <a:avLst/>
          </a:prstGeom>
          <a:noFill/>
          <a:ln/>
        </p:spPr>
        <p:txBody>
          <a:bodyPr wrap="square" lIns="0" tIns="0" rIns="0" bIns="0" rtlCol="0" anchor="ctr"/>
          <a:lstStyle/>
          <a:p>
            <a:pPr indent="0" marL="0">
              <a:buNone/>
            </a:pPr>
            <a:r>
              <a:rPr lang="en-US" sz="1050" dirty="0">
                <a:solidFill>
                  <a:srgbClr val="C4D3F0"/>
                </a:solidFill>
                <a:latin typeface="Arial" pitchFamily="34" charset="0"/>
                <a:ea typeface="Arial" pitchFamily="34" charset="-122"/>
                <a:cs typeface="Arial" pitchFamily="34" charset="-120"/>
              </a:rPr>
              <a:t>Het AI-Netwerk verbindt medewerkers, docenten, onderzoekers en studenten. Zes spreektafels dragen de zes koerslijnen. Geen nieuwe structuur, maar een netwerk dat al werkt.</a:t>
            </a:r>
            <a:endParaRPr lang="en-US" sz="1050" dirty="0"/>
          </a:p>
        </p:txBody>
      </p:sp>
      <p:sp>
        <p:nvSpPr>
          <p:cNvPr id="11" name="Shape 9"/>
          <p:cNvSpPr/>
          <p:nvPr/>
        </p:nvSpPr>
        <p:spPr>
          <a:xfrm>
            <a:off x="4389120" y="2057400"/>
            <a:ext cx="3474720" cy="2651760"/>
          </a:xfrm>
          <a:prstGeom prst="roundRect">
            <a:avLst>
              <a:gd name="adj" fmla="val 2759"/>
            </a:avLst>
          </a:prstGeom>
          <a:solidFill>
            <a:srgbClr val="0A2E6E"/>
          </a:solidFill>
          <a:ln w="12700">
            <a:solidFill>
              <a:srgbClr val="3C5EA8"/>
            </a:solidFill>
            <a:prstDash val="solid"/>
          </a:ln>
        </p:spPr>
      </p:sp>
      <p:sp>
        <p:nvSpPr>
          <p:cNvPr id="12" name="Text 10"/>
          <p:cNvSpPr/>
          <p:nvPr/>
        </p:nvSpPr>
        <p:spPr>
          <a:xfrm>
            <a:off x="4645152" y="2286000"/>
            <a:ext cx="914400" cy="365760"/>
          </a:xfrm>
          <a:prstGeom prst="rect">
            <a:avLst/>
          </a:prstGeom>
          <a:noFill/>
          <a:ln/>
        </p:spPr>
        <p:txBody>
          <a:bodyPr wrap="square" lIns="0" tIns="0" rIns="0" bIns="0" rtlCol="0" anchor="ctr"/>
          <a:lstStyle/>
          <a:p>
            <a:pPr indent="0" marL="0">
              <a:buNone/>
            </a:pPr>
            <a:r>
              <a:rPr lang="en-US" sz="1600" b="1" spc="300" kern="0" dirty="0">
                <a:solidFill>
                  <a:srgbClr val="C9A8E8"/>
                </a:solidFill>
                <a:latin typeface="Arial" pitchFamily="34" charset="0"/>
                <a:ea typeface="Arial" pitchFamily="34" charset="-122"/>
                <a:cs typeface="Arial" pitchFamily="34" charset="-120"/>
              </a:rPr>
              <a:t>II</a:t>
            </a:r>
            <a:endParaRPr lang="en-US" sz="1600" dirty="0"/>
          </a:p>
        </p:txBody>
      </p:sp>
      <p:sp>
        <p:nvSpPr>
          <p:cNvPr id="13" name="Text 11"/>
          <p:cNvSpPr/>
          <p:nvPr/>
        </p:nvSpPr>
        <p:spPr>
          <a:xfrm>
            <a:off x="4645152" y="2697480"/>
            <a:ext cx="2971800" cy="685800"/>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Wij verbinden, wij nemen niet over</a:t>
            </a:r>
            <a:endParaRPr lang="en-US" sz="1550" dirty="0"/>
          </a:p>
        </p:txBody>
      </p:sp>
      <p:sp>
        <p:nvSpPr>
          <p:cNvPr id="14" name="Text 12"/>
          <p:cNvSpPr/>
          <p:nvPr/>
        </p:nvSpPr>
        <p:spPr>
          <a:xfrm>
            <a:off x="4645152" y="3383280"/>
            <a:ext cx="2971800" cy="1234440"/>
          </a:xfrm>
          <a:prstGeom prst="rect">
            <a:avLst/>
          </a:prstGeom>
          <a:noFill/>
          <a:ln/>
        </p:spPr>
        <p:txBody>
          <a:bodyPr wrap="square" lIns="0" tIns="0" rIns="0" bIns="0" rtlCol="0" anchor="ctr"/>
          <a:lstStyle/>
          <a:p>
            <a:pPr indent="0" marL="0">
              <a:buNone/>
            </a:pPr>
            <a:r>
              <a:rPr lang="en-US" sz="1050" dirty="0">
                <a:solidFill>
                  <a:srgbClr val="C4D3F0"/>
                </a:solidFill>
                <a:latin typeface="Arial" pitchFamily="34" charset="0"/>
                <a:ea typeface="Arial" pitchFamily="34" charset="-122"/>
                <a:cs typeface="Arial" pitchFamily="34" charset="-120"/>
              </a:rPr>
              <a:t>Toetsing en didactiek horen bij het CTL en de examencommissies; onderwijs- en onderzoekskaders bij OO&amp;I. Eén waarheid per onderwerp, bij één eigenaar.</a:t>
            </a:r>
            <a:endParaRPr lang="en-US" sz="1050" dirty="0"/>
          </a:p>
        </p:txBody>
      </p:sp>
      <p:sp>
        <p:nvSpPr>
          <p:cNvPr id="15" name="Shape 13"/>
          <p:cNvSpPr/>
          <p:nvPr/>
        </p:nvSpPr>
        <p:spPr>
          <a:xfrm>
            <a:off x="8092440" y="2057400"/>
            <a:ext cx="3474720" cy="2651760"/>
          </a:xfrm>
          <a:prstGeom prst="roundRect">
            <a:avLst>
              <a:gd name="adj" fmla="val 2759"/>
            </a:avLst>
          </a:prstGeom>
          <a:solidFill>
            <a:srgbClr val="0A2E6E"/>
          </a:solidFill>
          <a:ln w="12700">
            <a:solidFill>
              <a:srgbClr val="3C5EA8"/>
            </a:solidFill>
            <a:prstDash val="solid"/>
          </a:ln>
        </p:spPr>
      </p:sp>
      <p:sp>
        <p:nvSpPr>
          <p:cNvPr id="16" name="Text 14"/>
          <p:cNvSpPr/>
          <p:nvPr/>
        </p:nvSpPr>
        <p:spPr>
          <a:xfrm>
            <a:off x="8348472" y="2286000"/>
            <a:ext cx="914400" cy="365760"/>
          </a:xfrm>
          <a:prstGeom prst="rect">
            <a:avLst/>
          </a:prstGeom>
          <a:noFill/>
          <a:ln/>
        </p:spPr>
        <p:txBody>
          <a:bodyPr wrap="square" lIns="0" tIns="0" rIns="0" bIns="0" rtlCol="0" anchor="ctr"/>
          <a:lstStyle/>
          <a:p>
            <a:pPr indent="0" marL="0">
              <a:buNone/>
            </a:pPr>
            <a:r>
              <a:rPr lang="en-US" sz="1600" b="1" spc="300" kern="0" dirty="0">
                <a:solidFill>
                  <a:srgbClr val="C9A8E8"/>
                </a:solidFill>
                <a:latin typeface="Arial" pitchFamily="34" charset="0"/>
                <a:ea typeface="Arial" pitchFamily="34" charset="-122"/>
                <a:cs typeface="Arial" pitchFamily="34" charset="-120"/>
              </a:rPr>
              <a:t>III</a:t>
            </a:r>
            <a:endParaRPr lang="en-US" sz="1600" dirty="0"/>
          </a:p>
        </p:txBody>
      </p:sp>
      <p:sp>
        <p:nvSpPr>
          <p:cNvPr id="17" name="Text 15"/>
          <p:cNvSpPr/>
          <p:nvPr/>
        </p:nvSpPr>
        <p:spPr>
          <a:xfrm>
            <a:off x="8348472" y="2697480"/>
            <a:ext cx="2971800" cy="685800"/>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Wij kiezen de landelijke weg</a:t>
            </a:r>
            <a:endParaRPr lang="en-US" sz="1550" dirty="0"/>
          </a:p>
        </p:txBody>
      </p:sp>
      <p:sp>
        <p:nvSpPr>
          <p:cNvPr id="18" name="Text 16"/>
          <p:cNvSpPr/>
          <p:nvPr/>
        </p:nvSpPr>
        <p:spPr>
          <a:xfrm>
            <a:off x="8348472" y="3383280"/>
            <a:ext cx="2971800" cy="1234440"/>
          </a:xfrm>
          <a:prstGeom prst="rect">
            <a:avLst/>
          </a:prstGeom>
          <a:noFill/>
          <a:ln/>
        </p:spPr>
        <p:txBody>
          <a:bodyPr wrap="square" lIns="0" tIns="0" rIns="0" bIns="0" rtlCol="0" anchor="ctr"/>
          <a:lstStyle/>
          <a:p>
            <a:pPr indent="0" marL="0">
              <a:buNone/>
            </a:pPr>
            <a:r>
              <a:rPr lang="en-US" sz="1050" dirty="0">
                <a:solidFill>
                  <a:srgbClr val="C4D3F0"/>
                </a:solidFill>
                <a:latin typeface="Arial" pitchFamily="34" charset="0"/>
                <a:ea typeface="Arial" pitchFamily="34" charset="-122"/>
                <a:cs typeface="Arial" pitchFamily="34" charset="-120"/>
              </a:rPr>
              <a:t>Deze koers is onze invulling van de Npuls-belofte AI en data waarde(n)vol inzetten. Wij standaardiseren op AI-GO, EduGenAI en het algoritmeregister.</a:t>
            </a:r>
            <a:endParaRPr lang="en-US" sz="1050" dirty="0"/>
          </a:p>
        </p:txBody>
      </p:sp>
      <p:sp>
        <p:nvSpPr>
          <p:cNvPr id="19" name="Shape 17"/>
          <p:cNvSpPr/>
          <p:nvPr/>
        </p:nvSpPr>
        <p:spPr>
          <a:xfrm>
            <a:off x="685800" y="5120640"/>
            <a:ext cx="2317090" cy="384048"/>
          </a:xfrm>
          <a:prstGeom prst="roundRect">
            <a:avLst>
              <a:gd name="adj" fmla="val 14286"/>
            </a:avLst>
          </a:prstGeom>
          <a:solidFill>
            <a:srgbClr val="0A2E6E"/>
          </a:solidFill>
          <a:ln w="12700">
            <a:solidFill>
              <a:srgbClr val="3C5EA8"/>
            </a:solidFill>
            <a:prstDash val="solid"/>
          </a:ln>
        </p:spPr>
      </p:sp>
      <p:sp>
        <p:nvSpPr>
          <p:cNvPr id="20" name="Text 18"/>
          <p:cNvSpPr/>
          <p:nvPr/>
        </p:nvSpPr>
        <p:spPr>
          <a:xfrm>
            <a:off x="795528" y="5120640"/>
            <a:ext cx="2134210" cy="38404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1  Energie &amp; Infrastructuur</a:t>
            </a:r>
            <a:endParaRPr lang="en-US" sz="1000" dirty="0"/>
          </a:p>
        </p:txBody>
      </p:sp>
      <p:sp>
        <p:nvSpPr>
          <p:cNvPr id="21" name="Text 19"/>
          <p:cNvSpPr/>
          <p:nvPr/>
        </p:nvSpPr>
        <p:spPr>
          <a:xfrm>
            <a:off x="3021178" y="5120640"/>
            <a:ext cx="320040" cy="384048"/>
          </a:xfrm>
          <a:prstGeom prst="rect">
            <a:avLst/>
          </a:prstGeom>
          <a:noFill/>
          <a:ln/>
        </p:spPr>
        <p:txBody>
          <a:bodyPr wrap="square" lIns="0" tIns="0" rIns="0" bIns="0" rtlCol="0" anchor="ctr"/>
          <a:lstStyle/>
          <a:p>
            <a:pPr algn="ctr" indent="0" marL="0">
              <a:buNone/>
            </a:pPr>
            <a:r>
              <a:rPr lang="en-US" sz="1200" dirty="0">
                <a:solidFill>
                  <a:srgbClr val="7E96C6"/>
                </a:solidFill>
                <a:latin typeface="Arial" pitchFamily="34" charset="0"/>
                <a:ea typeface="Arial" pitchFamily="34" charset="-122"/>
                <a:cs typeface="Arial" pitchFamily="34" charset="-120"/>
              </a:rPr>
              <a:t>→</a:t>
            </a:r>
            <a:endParaRPr lang="en-US" sz="1200" dirty="0"/>
          </a:p>
        </p:txBody>
      </p:sp>
      <p:sp>
        <p:nvSpPr>
          <p:cNvPr id="22" name="Shape 20"/>
          <p:cNvSpPr/>
          <p:nvPr/>
        </p:nvSpPr>
        <p:spPr>
          <a:xfrm>
            <a:off x="3386938" y="5120640"/>
            <a:ext cx="1717243" cy="384048"/>
          </a:xfrm>
          <a:prstGeom prst="roundRect">
            <a:avLst>
              <a:gd name="adj" fmla="val 14286"/>
            </a:avLst>
          </a:prstGeom>
          <a:solidFill>
            <a:srgbClr val="0A2E6E"/>
          </a:solidFill>
          <a:ln w="12700">
            <a:solidFill>
              <a:srgbClr val="3C5EA8"/>
            </a:solidFill>
            <a:prstDash val="solid"/>
          </a:ln>
        </p:spPr>
      </p:sp>
      <p:sp>
        <p:nvSpPr>
          <p:cNvPr id="23" name="Text 21"/>
          <p:cNvSpPr/>
          <p:nvPr/>
        </p:nvSpPr>
        <p:spPr>
          <a:xfrm>
            <a:off x="3496666" y="5120640"/>
            <a:ext cx="1534363" cy="38404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2  Chips &amp; Hardware</a:t>
            </a:r>
            <a:endParaRPr lang="en-US" sz="1000" dirty="0"/>
          </a:p>
        </p:txBody>
      </p:sp>
      <p:sp>
        <p:nvSpPr>
          <p:cNvPr id="24" name="Text 22"/>
          <p:cNvSpPr/>
          <p:nvPr/>
        </p:nvSpPr>
        <p:spPr>
          <a:xfrm>
            <a:off x="5122469" y="5120640"/>
            <a:ext cx="320040" cy="384048"/>
          </a:xfrm>
          <a:prstGeom prst="rect">
            <a:avLst/>
          </a:prstGeom>
          <a:noFill/>
          <a:ln/>
        </p:spPr>
        <p:txBody>
          <a:bodyPr wrap="square" lIns="0" tIns="0" rIns="0" bIns="0" rtlCol="0" anchor="ctr"/>
          <a:lstStyle/>
          <a:p>
            <a:pPr algn="ctr" indent="0" marL="0">
              <a:buNone/>
            </a:pPr>
            <a:r>
              <a:rPr lang="en-US" sz="1200" dirty="0">
                <a:solidFill>
                  <a:srgbClr val="7E96C6"/>
                </a:solidFill>
                <a:latin typeface="Arial" pitchFamily="34" charset="0"/>
                <a:ea typeface="Arial" pitchFamily="34" charset="-122"/>
                <a:cs typeface="Arial" pitchFamily="34" charset="-120"/>
              </a:rPr>
              <a:t>→</a:t>
            </a:r>
            <a:endParaRPr lang="en-US" sz="1200" dirty="0"/>
          </a:p>
        </p:txBody>
      </p:sp>
      <p:sp>
        <p:nvSpPr>
          <p:cNvPr id="25" name="Shape 23"/>
          <p:cNvSpPr/>
          <p:nvPr/>
        </p:nvSpPr>
        <p:spPr>
          <a:xfrm>
            <a:off x="5488229" y="5120640"/>
            <a:ext cx="2542032" cy="384048"/>
          </a:xfrm>
          <a:prstGeom prst="roundRect">
            <a:avLst>
              <a:gd name="adj" fmla="val 14286"/>
            </a:avLst>
          </a:prstGeom>
          <a:solidFill>
            <a:srgbClr val="0A2E6E"/>
          </a:solidFill>
          <a:ln w="12700">
            <a:solidFill>
              <a:srgbClr val="3C5EA8"/>
            </a:solidFill>
            <a:prstDash val="solid"/>
          </a:ln>
        </p:spPr>
      </p:sp>
      <p:sp>
        <p:nvSpPr>
          <p:cNvPr id="26" name="Text 24"/>
          <p:cNvSpPr/>
          <p:nvPr/>
        </p:nvSpPr>
        <p:spPr>
          <a:xfrm>
            <a:off x="5597957" y="5120640"/>
            <a:ext cx="2359152" cy="38404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3  Onderwijs, Onderzoek &amp; Data</a:t>
            </a:r>
            <a:endParaRPr lang="en-US" sz="1000" dirty="0"/>
          </a:p>
        </p:txBody>
      </p:sp>
      <p:sp>
        <p:nvSpPr>
          <p:cNvPr id="27" name="Text 25"/>
          <p:cNvSpPr/>
          <p:nvPr/>
        </p:nvSpPr>
        <p:spPr>
          <a:xfrm>
            <a:off x="8048549" y="5120640"/>
            <a:ext cx="320040" cy="384048"/>
          </a:xfrm>
          <a:prstGeom prst="rect">
            <a:avLst/>
          </a:prstGeom>
          <a:noFill/>
          <a:ln/>
        </p:spPr>
        <p:txBody>
          <a:bodyPr wrap="square" lIns="0" tIns="0" rIns="0" bIns="0" rtlCol="0" anchor="ctr"/>
          <a:lstStyle/>
          <a:p>
            <a:pPr algn="ctr" indent="0" marL="0">
              <a:buNone/>
            </a:pPr>
            <a:r>
              <a:rPr lang="en-US" sz="1200" dirty="0">
                <a:solidFill>
                  <a:srgbClr val="7E96C6"/>
                </a:solidFill>
                <a:latin typeface="Arial" pitchFamily="34" charset="0"/>
                <a:ea typeface="Arial" pitchFamily="34" charset="-122"/>
                <a:cs typeface="Arial" pitchFamily="34" charset="-120"/>
              </a:rPr>
              <a:t>→</a:t>
            </a:r>
            <a:endParaRPr lang="en-US" sz="1200" dirty="0"/>
          </a:p>
        </p:txBody>
      </p:sp>
      <p:sp>
        <p:nvSpPr>
          <p:cNvPr id="28" name="Shape 26"/>
          <p:cNvSpPr/>
          <p:nvPr/>
        </p:nvSpPr>
        <p:spPr>
          <a:xfrm>
            <a:off x="8414309" y="5120640"/>
            <a:ext cx="2242109" cy="384048"/>
          </a:xfrm>
          <a:prstGeom prst="roundRect">
            <a:avLst>
              <a:gd name="adj" fmla="val 14286"/>
            </a:avLst>
          </a:prstGeom>
          <a:solidFill>
            <a:srgbClr val="0A2E6E"/>
          </a:solidFill>
          <a:ln w="12700">
            <a:solidFill>
              <a:srgbClr val="3C5EA8"/>
            </a:solidFill>
            <a:prstDash val="solid"/>
          </a:ln>
        </p:spPr>
      </p:sp>
      <p:sp>
        <p:nvSpPr>
          <p:cNvPr id="29" name="Text 27"/>
          <p:cNvSpPr/>
          <p:nvPr/>
        </p:nvSpPr>
        <p:spPr>
          <a:xfrm>
            <a:off x="8524037" y="5120640"/>
            <a:ext cx="2059229" cy="38404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4  Platforms &amp; Applicaties</a:t>
            </a:r>
            <a:endParaRPr lang="en-US" sz="1000" dirty="0"/>
          </a:p>
        </p:txBody>
      </p:sp>
      <p:sp>
        <p:nvSpPr>
          <p:cNvPr id="30" name="Text 28"/>
          <p:cNvSpPr/>
          <p:nvPr/>
        </p:nvSpPr>
        <p:spPr>
          <a:xfrm>
            <a:off x="10674706" y="5120640"/>
            <a:ext cx="320040" cy="384048"/>
          </a:xfrm>
          <a:prstGeom prst="rect">
            <a:avLst/>
          </a:prstGeom>
          <a:noFill/>
          <a:ln/>
        </p:spPr>
        <p:txBody>
          <a:bodyPr wrap="square" lIns="0" tIns="0" rIns="0" bIns="0" rtlCol="0" anchor="ctr"/>
          <a:lstStyle/>
          <a:p>
            <a:pPr algn="ctr" indent="0" marL="0">
              <a:buNone/>
            </a:pPr>
            <a:r>
              <a:rPr lang="en-US" sz="1200" dirty="0">
                <a:solidFill>
                  <a:srgbClr val="7E96C6"/>
                </a:solidFill>
                <a:latin typeface="Arial" pitchFamily="34" charset="0"/>
                <a:ea typeface="Arial" pitchFamily="34" charset="-122"/>
                <a:cs typeface="Arial" pitchFamily="34" charset="-120"/>
              </a:rPr>
              <a:t>→</a:t>
            </a:r>
            <a:endParaRPr lang="en-US" sz="1200" dirty="0"/>
          </a:p>
        </p:txBody>
      </p:sp>
      <p:sp>
        <p:nvSpPr>
          <p:cNvPr id="31" name="Shape 29"/>
          <p:cNvSpPr/>
          <p:nvPr/>
        </p:nvSpPr>
        <p:spPr>
          <a:xfrm>
            <a:off x="11040466" y="5120640"/>
            <a:ext cx="2167128" cy="384048"/>
          </a:xfrm>
          <a:prstGeom prst="roundRect">
            <a:avLst>
              <a:gd name="adj" fmla="val 14286"/>
            </a:avLst>
          </a:prstGeom>
          <a:solidFill>
            <a:srgbClr val="0A2E6E"/>
          </a:solidFill>
          <a:ln w="12700">
            <a:solidFill>
              <a:srgbClr val="3C5EA8"/>
            </a:solidFill>
            <a:prstDash val="solid"/>
          </a:ln>
        </p:spPr>
      </p:sp>
      <p:sp>
        <p:nvSpPr>
          <p:cNvPr id="32" name="Text 30"/>
          <p:cNvSpPr/>
          <p:nvPr/>
        </p:nvSpPr>
        <p:spPr>
          <a:xfrm>
            <a:off x="11150194" y="5120640"/>
            <a:ext cx="1984248" cy="38404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5  Gebruik &amp; Toepassingen</a:t>
            </a:r>
            <a:endParaRPr lang="en-US" sz="1000" dirty="0"/>
          </a:p>
        </p:txBody>
      </p:sp>
      <p:sp>
        <p:nvSpPr>
          <p:cNvPr id="33" name="Text 31"/>
          <p:cNvSpPr/>
          <p:nvPr/>
        </p:nvSpPr>
        <p:spPr>
          <a:xfrm>
            <a:off x="685800" y="5806440"/>
            <a:ext cx="10058400" cy="4114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Eerst organiseren, dan automatiseren.  Zes thema's, vijf lagen, één kompas.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595360" y="-502920"/>
            <a:ext cx="3657600" cy="2926080"/>
          </a:xfrm>
          <a:prstGeom prst="rect">
            <a:avLst/>
          </a:prstGeom>
          <a:noFill/>
          <a:ln/>
        </p:spPr>
        <p:txBody>
          <a:bodyPr wrap="square" lIns="0" tIns="0" rIns="0" bIns="0" rtlCol="0" anchor="ctr"/>
          <a:lstStyle/>
          <a:p>
            <a:pPr algn="r" indent="0" marL="0">
              <a:buNone/>
            </a:pPr>
            <a:r>
              <a:rPr lang="en-US" sz="19000" b="1" dirty="0">
                <a:solidFill>
                  <a:srgbClr val="E8EFF8"/>
                </a:solidFill>
                <a:latin typeface="Arial" pitchFamily="34" charset="0"/>
                <a:ea typeface="Arial" pitchFamily="34" charset="-122"/>
                <a:cs typeface="Arial" pitchFamily="34" charset="-120"/>
              </a:rPr>
              <a:t>01</a:t>
            </a:r>
            <a:endParaRPr lang="en-US" sz="19000" dirty="0"/>
          </a:p>
        </p:txBody>
      </p:sp>
      <p:sp>
        <p:nvSpPr>
          <p:cNvPr id="3" name="Text 1"/>
          <p:cNvSpPr/>
          <p:nvPr/>
        </p:nvSpPr>
        <p:spPr>
          <a:xfrm>
            <a:off x="685800" y="457200"/>
            <a:ext cx="9144000" cy="292608"/>
          </a:xfrm>
          <a:prstGeom prst="rect">
            <a:avLst/>
          </a:prstGeom>
          <a:noFill/>
          <a:ln/>
        </p:spPr>
        <p:txBody>
          <a:bodyPr wrap="square" lIns="0" tIns="0" rIns="0" bIns="0" rtlCol="0" anchor="ctr"/>
          <a:lstStyle/>
          <a:p>
            <a:pPr indent="0" marL="0">
              <a:buNone/>
            </a:pPr>
            <a:r>
              <a:rPr lang="en-US" sz="1100" b="1" spc="300" kern="0" dirty="0">
                <a:solidFill>
                  <a:srgbClr val="1E3A8A"/>
                </a:solidFill>
                <a:latin typeface="Arial" pitchFamily="34" charset="0"/>
                <a:ea typeface="Arial" pitchFamily="34" charset="-122"/>
                <a:cs typeface="Arial" pitchFamily="34" charset="-120"/>
              </a:rPr>
              <a:t>KOERSLIJN 01 · AI &amp; LEREN</a:t>
            </a:r>
            <a:endParaRPr lang="en-US" sz="1100" dirty="0"/>
          </a:p>
        </p:txBody>
      </p:sp>
      <p:sp>
        <p:nvSpPr>
          <p:cNvPr id="4" name="Text 2"/>
          <p:cNvSpPr/>
          <p:nvPr/>
        </p:nvSpPr>
        <p:spPr>
          <a:xfrm>
            <a:off x="685800" y="804672"/>
            <a:ext cx="8778240" cy="960120"/>
          </a:xfrm>
          <a:prstGeom prst="rect">
            <a:avLst/>
          </a:prstGeom>
          <a:noFill/>
          <a:ln/>
        </p:spPr>
        <p:txBody>
          <a:bodyPr wrap="square" lIns="0" tIns="0" rIns="0" bIns="0" rtlCol="0" anchor="ctr"/>
          <a:lstStyle/>
          <a:p>
            <a:pPr indent="0" marL="0">
              <a:buNone/>
            </a:pPr>
            <a:r>
              <a:rPr lang="en-US" sz="2900" b="1" dirty="0">
                <a:solidFill>
                  <a:srgbClr val="142A63"/>
                </a:solidFill>
                <a:latin typeface="Arial" pitchFamily="34" charset="0"/>
                <a:ea typeface="Arial" pitchFamily="34" charset="-122"/>
                <a:cs typeface="Arial" pitchFamily="34" charset="-120"/>
              </a:rPr>
              <a:t>"AI versterkt leren: meer succes, minder uitval."</a:t>
            </a:r>
            <a:endParaRPr lang="en-US" sz="2900" dirty="0"/>
          </a:p>
        </p:txBody>
      </p:sp>
      <p:sp>
        <p:nvSpPr>
          <p:cNvPr id="5" name="Text 3"/>
          <p:cNvSpPr/>
          <p:nvPr/>
        </p:nvSpPr>
        <p:spPr>
          <a:xfrm>
            <a:off x="685800" y="1783080"/>
            <a:ext cx="8229600" cy="320040"/>
          </a:xfrm>
          <a:prstGeom prst="rect">
            <a:avLst/>
          </a:prstGeom>
          <a:noFill/>
          <a:ln/>
        </p:spPr>
        <p:txBody>
          <a:bodyPr wrap="square" lIns="0" tIns="0" rIns="0" bIns="0" rtlCol="0" anchor="ctr"/>
          <a:lstStyle/>
          <a:p>
            <a:pPr indent="0" marL="0">
              <a:buNone/>
            </a:pPr>
            <a:r>
              <a:rPr lang="en-US" sz="1200" i="1" dirty="0">
                <a:solidFill>
                  <a:srgbClr val="98A1B3"/>
                </a:solidFill>
                <a:latin typeface="Arial" pitchFamily="34" charset="0"/>
                <a:ea typeface="Arial" pitchFamily="34" charset="-122"/>
                <a:cs typeface="Arial" pitchFamily="34" charset="-120"/>
              </a:rPr>
              <a:t>Onderwijs, didactiek, studiesucces en voorbereiding op de arbeidsmarkt.</a:t>
            </a:r>
            <a:endParaRPr lang="en-US" sz="1200" dirty="0"/>
          </a:p>
        </p:txBody>
      </p:sp>
      <p:sp>
        <p:nvSpPr>
          <p:cNvPr id="6" name="Text 4"/>
          <p:cNvSpPr/>
          <p:nvPr/>
        </p:nvSpPr>
        <p:spPr>
          <a:xfrm>
            <a:off x="685800" y="2240280"/>
            <a:ext cx="10607040" cy="914400"/>
          </a:xfrm>
          <a:prstGeom prst="rect">
            <a:avLst/>
          </a:prstGeom>
          <a:noFill/>
          <a:ln/>
        </p:spPr>
        <p:txBody>
          <a:bodyPr wrap="square" lIns="0" tIns="0" rIns="0" bIns="0" rtlCol="0" anchor="ctr"/>
          <a:lstStyle/>
          <a:p>
            <a:pPr indent="0" marL="0">
              <a:buNone/>
            </a:pPr>
            <a:r>
              <a:rPr lang="en-US" sz="1250" dirty="0">
                <a:solidFill>
                  <a:srgbClr val="4A5568"/>
                </a:solidFill>
                <a:latin typeface="Arial" pitchFamily="34" charset="0"/>
                <a:ea typeface="Arial" pitchFamily="34" charset="-122"/>
                <a:cs typeface="Arial" pitchFamily="34" charset="-120"/>
              </a:rPr>
              <a:t>Onze koers is helder: AI versterkt het onderwijs en vervangt de docent niet. Wij zetten AI in waar het leren sterker maakt, zodat elke student meer kans krijgt op studiesucces. Toetsregels schrijven wij hier bewust niet: die horen bij het CTL en de examencommissies.</a:t>
            </a:r>
            <a:endParaRPr lang="en-US" sz="1250" dirty="0"/>
          </a:p>
        </p:txBody>
      </p:sp>
      <p:sp>
        <p:nvSpPr>
          <p:cNvPr id="7" name="Text 5"/>
          <p:cNvSpPr/>
          <p:nvPr/>
        </p:nvSpPr>
        <p:spPr>
          <a:xfrm>
            <a:off x="685800" y="3246120"/>
            <a:ext cx="5486400" cy="274320"/>
          </a:xfrm>
          <a:prstGeom prst="rect">
            <a:avLst/>
          </a:prstGeom>
          <a:noFill/>
          <a:ln/>
        </p:spPr>
        <p:txBody>
          <a:bodyPr wrap="square" lIns="0" tIns="0" rIns="0" bIns="0" rtlCol="0" anchor="ctr"/>
          <a:lstStyle/>
          <a:p>
            <a:pPr indent="0" marL="0">
              <a:buNone/>
            </a:pPr>
            <a:r>
              <a:rPr lang="en-US" sz="1100" b="1" spc="300" kern="0" dirty="0">
                <a:solidFill>
                  <a:srgbClr val="1E3A8A"/>
                </a:solidFill>
                <a:latin typeface="Arial" pitchFamily="34" charset="0"/>
                <a:ea typeface="Arial" pitchFamily="34" charset="-122"/>
                <a:cs typeface="Arial" pitchFamily="34" charset="-120"/>
              </a:rPr>
              <a:t>DIT KIEZEN WIJ TOT 2030</a:t>
            </a:r>
            <a:endParaRPr lang="en-US" sz="1100" dirty="0"/>
          </a:p>
        </p:txBody>
      </p:sp>
      <p:sp>
        <p:nvSpPr>
          <p:cNvPr id="8" name="Shape 6"/>
          <p:cNvSpPr/>
          <p:nvPr/>
        </p:nvSpPr>
        <p:spPr>
          <a:xfrm>
            <a:off x="685800" y="3721608"/>
            <a:ext cx="146304" cy="146304"/>
          </a:xfrm>
          <a:prstGeom prst="diamond">
            <a:avLst/>
          </a:prstGeom>
          <a:solidFill>
            <a:srgbClr val="1E3A8A"/>
          </a:solidFill>
          <a:ln/>
        </p:spPr>
      </p:sp>
      <p:sp>
        <p:nvSpPr>
          <p:cNvPr id="9" name="Text 7"/>
          <p:cNvSpPr/>
          <p:nvPr/>
        </p:nvSpPr>
        <p:spPr>
          <a:xfrm>
            <a:off x="978408" y="3657600"/>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Elk domein kiest positie: AI in het leerproces vastgelegd in het OER, als pedagogische keuze, niet als verbod.</a:t>
            </a:r>
            <a:endParaRPr lang="en-US" sz="1050" dirty="0"/>
          </a:p>
        </p:txBody>
      </p:sp>
      <p:sp>
        <p:nvSpPr>
          <p:cNvPr id="10" name="Shape 8"/>
          <p:cNvSpPr/>
          <p:nvPr/>
        </p:nvSpPr>
        <p:spPr>
          <a:xfrm>
            <a:off x="6263640" y="3721608"/>
            <a:ext cx="146304" cy="146304"/>
          </a:xfrm>
          <a:prstGeom prst="diamond">
            <a:avLst/>
          </a:prstGeom>
          <a:solidFill>
            <a:srgbClr val="1E3A8A"/>
          </a:solidFill>
          <a:ln/>
        </p:spPr>
      </p:sp>
      <p:sp>
        <p:nvSpPr>
          <p:cNvPr id="11" name="Text 9"/>
          <p:cNvSpPr/>
          <p:nvPr/>
        </p:nvSpPr>
        <p:spPr>
          <a:xfrm>
            <a:off x="6556248" y="3657600"/>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AI-bestendige toetsvormen ontstaan waar ze horen: onder regie van CTL en examencommissies.</a:t>
            </a:r>
            <a:endParaRPr lang="en-US" sz="1050" dirty="0"/>
          </a:p>
        </p:txBody>
      </p:sp>
      <p:sp>
        <p:nvSpPr>
          <p:cNvPr id="12" name="Shape 10"/>
          <p:cNvSpPr/>
          <p:nvPr/>
        </p:nvSpPr>
        <p:spPr>
          <a:xfrm>
            <a:off x="685800" y="4745736"/>
            <a:ext cx="146304" cy="146304"/>
          </a:xfrm>
          <a:prstGeom prst="diamond">
            <a:avLst/>
          </a:prstGeom>
          <a:solidFill>
            <a:srgbClr val="1E3A8A"/>
          </a:solidFill>
          <a:ln/>
        </p:spPr>
      </p:sp>
      <p:sp>
        <p:nvSpPr>
          <p:cNvPr id="13" name="Text 11"/>
          <p:cNvSpPr/>
          <p:nvPr/>
        </p:nvSpPr>
        <p:spPr>
          <a:xfrm>
            <a:off x="978408" y="4681728"/>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kiezen SURF EduGenAI als ons veilige platform voor generatieve AI, ingericht per opleiding.</a:t>
            </a:r>
            <a:endParaRPr lang="en-US" sz="1050" dirty="0"/>
          </a:p>
        </p:txBody>
      </p:sp>
      <p:sp>
        <p:nvSpPr>
          <p:cNvPr id="14" name="Shape 12"/>
          <p:cNvSpPr/>
          <p:nvPr/>
        </p:nvSpPr>
        <p:spPr>
          <a:xfrm>
            <a:off x="6263640" y="4745736"/>
            <a:ext cx="146304" cy="146304"/>
          </a:xfrm>
          <a:prstGeom prst="diamond">
            <a:avLst/>
          </a:prstGeom>
          <a:solidFill>
            <a:srgbClr val="1E3A8A"/>
          </a:solidFill>
          <a:ln/>
        </p:spPr>
      </p:sp>
      <p:sp>
        <p:nvSpPr>
          <p:cNvPr id="15" name="Text 13"/>
          <p:cNvSpPr/>
          <p:nvPr/>
        </p:nvSpPr>
        <p:spPr>
          <a:xfrm>
            <a:off x="6556248" y="4681728"/>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starten pilots met AI-ondersteunde begeleiding en vroegsignalering, afgerekend op leeruitkomsten.</a:t>
            </a:r>
            <a:endParaRPr lang="en-US" sz="1050" dirty="0"/>
          </a:p>
        </p:txBody>
      </p:sp>
      <p:sp>
        <p:nvSpPr>
          <p:cNvPr id="16" name="Shape 14"/>
          <p:cNvSpPr/>
          <p:nvPr/>
        </p:nvSpPr>
        <p:spPr>
          <a:xfrm>
            <a:off x="685800" y="5806440"/>
            <a:ext cx="10835640" cy="685800"/>
          </a:xfrm>
          <a:prstGeom prst="roundRect">
            <a:avLst>
              <a:gd name="adj" fmla="val 9333"/>
            </a:avLst>
          </a:prstGeom>
          <a:solidFill>
            <a:srgbClr val="E8EFF8"/>
          </a:solidFill>
          <a:ln/>
        </p:spPr>
      </p:sp>
      <p:sp>
        <p:nvSpPr>
          <p:cNvPr id="17" name="Text 15"/>
          <p:cNvSpPr/>
          <p:nvPr/>
        </p:nvSpPr>
        <p:spPr>
          <a:xfrm>
            <a:off x="914400" y="5806440"/>
            <a:ext cx="868680" cy="685800"/>
          </a:xfrm>
          <a:prstGeom prst="rect">
            <a:avLst/>
          </a:prstGeom>
          <a:noFill/>
          <a:ln/>
        </p:spPr>
        <p:txBody>
          <a:bodyPr wrap="square" lIns="0" tIns="0" rIns="0" bIns="0" rtlCol="0" anchor="ctr"/>
          <a:lstStyle/>
          <a:p>
            <a:pPr indent="0" marL="0">
              <a:buNone/>
            </a:pPr>
            <a:r>
              <a:rPr lang="en-US" sz="1900" b="1" dirty="0">
                <a:solidFill>
                  <a:srgbClr val="1E3A8A"/>
                </a:solidFill>
                <a:latin typeface="Arial" pitchFamily="34" charset="0"/>
                <a:ea typeface="Arial" pitchFamily="34" charset="-122"/>
                <a:cs typeface="Arial" pitchFamily="34" charset="-120"/>
              </a:rPr>
              <a:t>2030</a:t>
            </a:r>
            <a:endParaRPr lang="en-US" sz="1900" dirty="0"/>
          </a:p>
        </p:txBody>
      </p:sp>
      <p:sp>
        <p:nvSpPr>
          <p:cNvPr id="18" name="Text 16"/>
          <p:cNvSpPr/>
          <p:nvPr/>
        </p:nvSpPr>
        <p:spPr>
          <a:xfrm>
            <a:off x="1828800" y="5806440"/>
            <a:ext cx="9464040" cy="685800"/>
          </a:xfrm>
          <a:prstGeom prst="rect">
            <a:avLst/>
          </a:prstGeom>
          <a:noFill/>
          <a:ln/>
        </p:spPr>
        <p:txBody>
          <a:bodyPr wrap="square" lIns="0" tIns="0" rIns="0" bIns="0" rtlCol="0" anchor="ctr"/>
          <a:lstStyle/>
          <a:p>
            <a:pPr indent="0" marL="0">
              <a:buNone/>
            </a:pPr>
            <a:r>
              <a:rPr lang="en-US" sz="1150" b="1" dirty="0">
                <a:solidFill>
                  <a:srgbClr val="142A63"/>
                </a:solidFill>
                <a:latin typeface="Arial" pitchFamily="34" charset="0"/>
                <a:ea typeface="Arial" pitchFamily="34" charset="-122"/>
                <a:cs typeface="Arial" pitchFamily="34" charset="-120"/>
              </a:rPr>
              <a:t>Elke opleiding heeft een gedocumenteerde en zichtbare positie op AI in het leerproces, opgenomen in OER en opleidingsgids.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595360" y="-502920"/>
            <a:ext cx="3657600" cy="2926080"/>
          </a:xfrm>
          <a:prstGeom prst="rect">
            <a:avLst/>
          </a:prstGeom>
          <a:noFill/>
          <a:ln/>
        </p:spPr>
        <p:txBody>
          <a:bodyPr wrap="square" lIns="0" tIns="0" rIns="0" bIns="0" rtlCol="0" anchor="ctr"/>
          <a:lstStyle/>
          <a:p>
            <a:pPr algn="r" indent="0" marL="0">
              <a:buNone/>
            </a:pPr>
            <a:r>
              <a:rPr lang="en-US" sz="19000" b="1" dirty="0">
                <a:solidFill>
                  <a:srgbClr val="E4F3EF"/>
                </a:solidFill>
                <a:latin typeface="Arial" pitchFamily="34" charset="0"/>
                <a:ea typeface="Arial" pitchFamily="34" charset="-122"/>
                <a:cs typeface="Arial" pitchFamily="34" charset="-120"/>
              </a:rPr>
              <a:t>02</a:t>
            </a:r>
            <a:endParaRPr lang="en-US" sz="19000" dirty="0"/>
          </a:p>
        </p:txBody>
      </p:sp>
      <p:sp>
        <p:nvSpPr>
          <p:cNvPr id="3" name="Text 1"/>
          <p:cNvSpPr/>
          <p:nvPr/>
        </p:nvSpPr>
        <p:spPr>
          <a:xfrm>
            <a:off x="685800" y="457200"/>
            <a:ext cx="9144000" cy="292608"/>
          </a:xfrm>
          <a:prstGeom prst="rect">
            <a:avLst/>
          </a:prstGeom>
          <a:noFill/>
          <a:ln/>
        </p:spPr>
        <p:txBody>
          <a:bodyPr wrap="square" lIns="0" tIns="0" rIns="0" bIns="0" rtlCol="0" anchor="ctr"/>
          <a:lstStyle/>
          <a:p>
            <a:pPr indent="0" marL="0">
              <a:buNone/>
            </a:pPr>
            <a:r>
              <a:rPr lang="en-US" sz="1100" b="1" spc="300" kern="0" dirty="0">
                <a:solidFill>
                  <a:srgbClr val="0F766E"/>
                </a:solidFill>
                <a:latin typeface="Arial" pitchFamily="34" charset="0"/>
                <a:ea typeface="Arial" pitchFamily="34" charset="-122"/>
                <a:cs typeface="Arial" pitchFamily="34" charset="-120"/>
              </a:rPr>
              <a:t>KOERSLIJN 02 · AI &amp; WERKEN</a:t>
            </a:r>
            <a:endParaRPr lang="en-US" sz="1100" dirty="0"/>
          </a:p>
        </p:txBody>
      </p:sp>
      <p:sp>
        <p:nvSpPr>
          <p:cNvPr id="4" name="Text 2"/>
          <p:cNvSpPr/>
          <p:nvPr/>
        </p:nvSpPr>
        <p:spPr>
          <a:xfrm>
            <a:off x="685800" y="804672"/>
            <a:ext cx="8778240" cy="960120"/>
          </a:xfrm>
          <a:prstGeom prst="rect">
            <a:avLst/>
          </a:prstGeom>
          <a:noFill/>
          <a:ln/>
        </p:spPr>
        <p:txBody>
          <a:bodyPr wrap="square" lIns="0" tIns="0" rIns="0" bIns="0" rtlCol="0" anchor="ctr"/>
          <a:lstStyle/>
          <a:p>
            <a:pPr indent="0" marL="0">
              <a:buNone/>
            </a:pPr>
            <a:r>
              <a:rPr lang="en-US" sz="2900" b="1" dirty="0">
                <a:solidFill>
                  <a:srgbClr val="0A4F4A"/>
                </a:solidFill>
                <a:latin typeface="Arial" pitchFamily="34" charset="0"/>
                <a:ea typeface="Arial" pitchFamily="34" charset="-122"/>
                <a:cs typeface="Arial" pitchFamily="34" charset="-120"/>
              </a:rPr>
              <a:t>"AI neemt werk uit handen, zodat mensen het verschil maken."</a:t>
            </a:r>
            <a:endParaRPr lang="en-US" sz="2900" dirty="0"/>
          </a:p>
        </p:txBody>
      </p:sp>
      <p:sp>
        <p:nvSpPr>
          <p:cNvPr id="5" name="Text 3"/>
          <p:cNvSpPr/>
          <p:nvPr/>
        </p:nvSpPr>
        <p:spPr>
          <a:xfrm>
            <a:off x="685800" y="1783080"/>
            <a:ext cx="8229600" cy="320040"/>
          </a:xfrm>
          <a:prstGeom prst="rect">
            <a:avLst/>
          </a:prstGeom>
          <a:noFill/>
          <a:ln/>
        </p:spPr>
        <p:txBody>
          <a:bodyPr wrap="square" lIns="0" tIns="0" rIns="0" bIns="0" rtlCol="0" anchor="ctr"/>
          <a:lstStyle/>
          <a:p>
            <a:pPr indent="0" marL="0">
              <a:buNone/>
            </a:pPr>
            <a:r>
              <a:rPr lang="en-US" sz="1200" i="1" dirty="0">
                <a:solidFill>
                  <a:srgbClr val="98A1B3"/>
                </a:solidFill>
                <a:latin typeface="Arial" pitchFamily="34" charset="0"/>
                <a:ea typeface="Arial" pitchFamily="34" charset="-122"/>
                <a:cs typeface="Arial" pitchFamily="34" charset="-120"/>
              </a:rPr>
              <a:t>Procesverbetering, bedrijfsvoering en nieuwe werkwijzen bij diensten.</a:t>
            </a:r>
            <a:endParaRPr lang="en-US" sz="1200" dirty="0"/>
          </a:p>
        </p:txBody>
      </p:sp>
      <p:sp>
        <p:nvSpPr>
          <p:cNvPr id="6" name="Text 4"/>
          <p:cNvSpPr/>
          <p:nvPr/>
        </p:nvSpPr>
        <p:spPr>
          <a:xfrm>
            <a:off x="685800" y="2240280"/>
            <a:ext cx="10607040" cy="914400"/>
          </a:xfrm>
          <a:prstGeom prst="rect">
            <a:avLst/>
          </a:prstGeom>
          <a:noFill/>
          <a:ln/>
        </p:spPr>
        <p:txBody>
          <a:bodyPr wrap="square" lIns="0" tIns="0" rIns="0" bIns="0" rtlCol="0" anchor="ctr"/>
          <a:lstStyle/>
          <a:p>
            <a:pPr indent="0" marL="0">
              <a:buNone/>
            </a:pPr>
            <a:r>
              <a:rPr lang="en-US" sz="1250" dirty="0">
                <a:solidFill>
                  <a:srgbClr val="4A5568"/>
                </a:solidFill>
                <a:latin typeface="Arial" pitchFamily="34" charset="0"/>
                <a:ea typeface="Arial" pitchFamily="34" charset="-122"/>
                <a:cs typeface="Arial" pitchFamily="34" charset="-120"/>
              </a:rPr>
              <a:t>Wij laten AI het werk doen dat mensen klein houdt: administratieve lasten, repetitieve taken, complexe planning. Zo ontstaat ruimte voor wat echt telt: contact, oordeel en inhoud. Wij worden wendbaarder zonder de menselijke maat te verliezen.</a:t>
            </a:r>
            <a:endParaRPr lang="en-US" sz="1250" dirty="0"/>
          </a:p>
        </p:txBody>
      </p:sp>
      <p:sp>
        <p:nvSpPr>
          <p:cNvPr id="7" name="Text 5"/>
          <p:cNvSpPr/>
          <p:nvPr/>
        </p:nvSpPr>
        <p:spPr>
          <a:xfrm>
            <a:off x="685800" y="3246120"/>
            <a:ext cx="5486400" cy="274320"/>
          </a:xfrm>
          <a:prstGeom prst="rect">
            <a:avLst/>
          </a:prstGeom>
          <a:noFill/>
          <a:ln/>
        </p:spPr>
        <p:txBody>
          <a:bodyPr wrap="square" lIns="0" tIns="0" rIns="0" bIns="0" rtlCol="0" anchor="ctr"/>
          <a:lstStyle/>
          <a:p>
            <a:pPr indent="0" marL="0">
              <a:buNone/>
            </a:pPr>
            <a:r>
              <a:rPr lang="en-US" sz="1100" b="1" spc="300" kern="0" dirty="0">
                <a:solidFill>
                  <a:srgbClr val="0F766E"/>
                </a:solidFill>
                <a:latin typeface="Arial" pitchFamily="34" charset="0"/>
                <a:ea typeface="Arial" pitchFamily="34" charset="-122"/>
                <a:cs typeface="Arial" pitchFamily="34" charset="-120"/>
              </a:rPr>
              <a:t>DIT KIEZEN WIJ TOT 2030</a:t>
            </a:r>
            <a:endParaRPr lang="en-US" sz="1100" dirty="0"/>
          </a:p>
        </p:txBody>
      </p:sp>
      <p:sp>
        <p:nvSpPr>
          <p:cNvPr id="8" name="Shape 6"/>
          <p:cNvSpPr/>
          <p:nvPr/>
        </p:nvSpPr>
        <p:spPr>
          <a:xfrm>
            <a:off x="685800" y="3721608"/>
            <a:ext cx="146304" cy="146304"/>
          </a:xfrm>
          <a:prstGeom prst="diamond">
            <a:avLst/>
          </a:prstGeom>
          <a:solidFill>
            <a:srgbClr val="0F766E"/>
          </a:solidFill>
          <a:ln/>
        </p:spPr>
      </p:sp>
      <p:sp>
        <p:nvSpPr>
          <p:cNvPr id="9" name="Text 7"/>
          <p:cNvSpPr/>
          <p:nvPr/>
        </p:nvSpPr>
        <p:spPr>
          <a:xfrm>
            <a:off x="978408" y="3657600"/>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brengen AI in bedrijfsprocessen via pilots, en bedden alleen in wat zijn meerwaarde bewijst.</a:t>
            </a:r>
            <a:endParaRPr lang="en-US" sz="1050" dirty="0"/>
          </a:p>
        </p:txBody>
      </p:sp>
      <p:sp>
        <p:nvSpPr>
          <p:cNvPr id="10" name="Shape 8"/>
          <p:cNvSpPr/>
          <p:nvPr/>
        </p:nvSpPr>
        <p:spPr>
          <a:xfrm>
            <a:off x="6263640" y="3721608"/>
            <a:ext cx="146304" cy="146304"/>
          </a:xfrm>
          <a:prstGeom prst="diamond">
            <a:avLst/>
          </a:prstGeom>
          <a:solidFill>
            <a:srgbClr val="0F766E"/>
          </a:solidFill>
          <a:ln/>
        </p:spPr>
      </p:sp>
      <p:sp>
        <p:nvSpPr>
          <p:cNvPr id="11" name="Text 9"/>
          <p:cNvSpPr/>
          <p:nvPr/>
        </p:nvSpPr>
        <p:spPr>
          <a:xfrm>
            <a:off x="6556248" y="3657600"/>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kopen in via een expliciet afwegingskader: digitale soevereiniteit en AI Act-compliance wegen altijd mee.</a:t>
            </a:r>
            <a:endParaRPr lang="en-US" sz="1050" dirty="0"/>
          </a:p>
        </p:txBody>
      </p:sp>
      <p:sp>
        <p:nvSpPr>
          <p:cNvPr id="12" name="Shape 10"/>
          <p:cNvSpPr/>
          <p:nvPr/>
        </p:nvSpPr>
        <p:spPr>
          <a:xfrm>
            <a:off x="685800" y="4745736"/>
            <a:ext cx="146304" cy="146304"/>
          </a:xfrm>
          <a:prstGeom prst="diamond">
            <a:avLst/>
          </a:prstGeom>
          <a:solidFill>
            <a:srgbClr val="0F766E"/>
          </a:solidFill>
          <a:ln/>
        </p:spPr>
      </p:sp>
      <p:sp>
        <p:nvSpPr>
          <p:cNvPr id="13" name="Text 11"/>
          <p:cNvSpPr/>
          <p:nvPr/>
        </p:nvSpPr>
        <p:spPr>
          <a:xfrm>
            <a:off x="978408" y="4681728"/>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meten periodiek werkdruk en werktevredenheid en sturen bij zodra AI complexiteit oplevert.</a:t>
            </a:r>
            <a:endParaRPr lang="en-US" sz="1050" dirty="0"/>
          </a:p>
        </p:txBody>
      </p:sp>
      <p:sp>
        <p:nvSpPr>
          <p:cNvPr id="14" name="Shape 12"/>
          <p:cNvSpPr/>
          <p:nvPr/>
        </p:nvSpPr>
        <p:spPr>
          <a:xfrm>
            <a:off x="6263640" y="4745736"/>
            <a:ext cx="146304" cy="146304"/>
          </a:xfrm>
          <a:prstGeom prst="diamond">
            <a:avLst/>
          </a:prstGeom>
          <a:solidFill>
            <a:srgbClr val="0F766E"/>
          </a:solidFill>
          <a:ln/>
        </p:spPr>
      </p:sp>
      <p:sp>
        <p:nvSpPr>
          <p:cNvPr id="15" name="Text 13"/>
          <p:cNvSpPr/>
          <p:nvPr/>
        </p:nvSpPr>
        <p:spPr>
          <a:xfrm>
            <a:off x="6556248" y="4681728"/>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delen succesvolle werkwijzen actief, zodat de hele instelling leert van individuele teams.</a:t>
            </a:r>
            <a:endParaRPr lang="en-US" sz="1050" dirty="0"/>
          </a:p>
        </p:txBody>
      </p:sp>
      <p:sp>
        <p:nvSpPr>
          <p:cNvPr id="16" name="Shape 14"/>
          <p:cNvSpPr/>
          <p:nvPr/>
        </p:nvSpPr>
        <p:spPr>
          <a:xfrm>
            <a:off x="685800" y="5806440"/>
            <a:ext cx="10835640" cy="685800"/>
          </a:xfrm>
          <a:prstGeom prst="roundRect">
            <a:avLst>
              <a:gd name="adj" fmla="val 9333"/>
            </a:avLst>
          </a:prstGeom>
          <a:solidFill>
            <a:srgbClr val="E4F3EF"/>
          </a:solidFill>
          <a:ln/>
        </p:spPr>
      </p:sp>
      <p:sp>
        <p:nvSpPr>
          <p:cNvPr id="17" name="Text 15"/>
          <p:cNvSpPr/>
          <p:nvPr/>
        </p:nvSpPr>
        <p:spPr>
          <a:xfrm>
            <a:off x="914400" y="5806440"/>
            <a:ext cx="868680" cy="685800"/>
          </a:xfrm>
          <a:prstGeom prst="rect">
            <a:avLst/>
          </a:prstGeom>
          <a:noFill/>
          <a:ln/>
        </p:spPr>
        <p:txBody>
          <a:bodyPr wrap="square" lIns="0" tIns="0" rIns="0" bIns="0" rtlCol="0" anchor="ctr"/>
          <a:lstStyle/>
          <a:p>
            <a:pPr indent="0" marL="0">
              <a:buNone/>
            </a:pPr>
            <a:r>
              <a:rPr lang="en-US" sz="1900" b="1" dirty="0">
                <a:solidFill>
                  <a:srgbClr val="0F766E"/>
                </a:solidFill>
                <a:latin typeface="Arial" pitchFamily="34" charset="0"/>
                <a:ea typeface="Arial" pitchFamily="34" charset="-122"/>
                <a:cs typeface="Arial" pitchFamily="34" charset="-120"/>
              </a:rPr>
              <a:t>2030</a:t>
            </a:r>
            <a:endParaRPr lang="en-US" sz="1900" dirty="0"/>
          </a:p>
        </p:txBody>
      </p:sp>
      <p:sp>
        <p:nvSpPr>
          <p:cNvPr id="18" name="Text 16"/>
          <p:cNvSpPr/>
          <p:nvPr/>
        </p:nvSpPr>
        <p:spPr>
          <a:xfrm>
            <a:off x="1828800" y="5806440"/>
            <a:ext cx="9464040" cy="685800"/>
          </a:xfrm>
          <a:prstGeom prst="rect">
            <a:avLst/>
          </a:prstGeom>
          <a:noFill/>
          <a:ln/>
        </p:spPr>
        <p:txBody>
          <a:bodyPr wrap="square" lIns="0" tIns="0" rIns="0" bIns="0" rtlCol="0" anchor="ctr"/>
          <a:lstStyle/>
          <a:p>
            <a:pPr indent="0" marL="0">
              <a:buNone/>
            </a:pPr>
            <a:r>
              <a:rPr lang="en-US" sz="1150" b="1" dirty="0">
                <a:solidFill>
                  <a:srgbClr val="0A4F4A"/>
                </a:solidFill>
                <a:latin typeface="Arial" pitchFamily="34" charset="0"/>
                <a:ea typeface="Arial" pitchFamily="34" charset="-122"/>
                <a:cs typeface="Arial" pitchFamily="34" charset="-120"/>
              </a:rPr>
              <a:t>Minimaal vijf bedrijfsprocessen aantoonbaar verbeterd met AI-inzet, gedocumenteerd en beschikbaar voor leeruitwisseling.</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595360" y="-502920"/>
            <a:ext cx="3657600" cy="2926080"/>
          </a:xfrm>
          <a:prstGeom prst="rect">
            <a:avLst/>
          </a:prstGeom>
          <a:noFill/>
          <a:ln/>
        </p:spPr>
        <p:txBody>
          <a:bodyPr wrap="square" lIns="0" tIns="0" rIns="0" bIns="0" rtlCol="0" anchor="ctr"/>
          <a:lstStyle/>
          <a:p>
            <a:pPr algn="r" indent="0" marL="0">
              <a:buNone/>
            </a:pPr>
            <a:r>
              <a:rPr lang="en-US" sz="19000" b="1" dirty="0">
                <a:solidFill>
                  <a:srgbClr val="FCE4F0"/>
                </a:solidFill>
                <a:latin typeface="Arial" pitchFamily="34" charset="0"/>
                <a:ea typeface="Arial" pitchFamily="34" charset="-122"/>
                <a:cs typeface="Arial" pitchFamily="34" charset="-120"/>
              </a:rPr>
              <a:t>03</a:t>
            </a:r>
            <a:endParaRPr lang="en-US" sz="19000" dirty="0"/>
          </a:p>
        </p:txBody>
      </p:sp>
      <p:sp>
        <p:nvSpPr>
          <p:cNvPr id="3" name="Text 1"/>
          <p:cNvSpPr/>
          <p:nvPr/>
        </p:nvSpPr>
        <p:spPr>
          <a:xfrm>
            <a:off x="685800" y="457200"/>
            <a:ext cx="9144000" cy="292608"/>
          </a:xfrm>
          <a:prstGeom prst="rect">
            <a:avLst/>
          </a:prstGeom>
          <a:noFill/>
          <a:ln/>
        </p:spPr>
        <p:txBody>
          <a:bodyPr wrap="square" lIns="0" tIns="0" rIns="0" bIns="0" rtlCol="0" anchor="ctr"/>
          <a:lstStyle/>
          <a:p>
            <a:pPr indent="0" marL="0">
              <a:buNone/>
            </a:pPr>
            <a:r>
              <a:rPr lang="en-US" sz="1100" b="1" spc="300" kern="0" dirty="0">
                <a:solidFill>
                  <a:srgbClr val="E91E8C"/>
                </a:solidFill>
                <a:latin typeface="Arial" pitchFamily="34" charset="0"/>
                <a:ea typeface="Arial" pitchFamily="34" charset="-122"/>
                <a:cs typeface="Arial" pitchFamily="34" charset="-120"/>
              </a:rPr>
              <a:t>KOERSLIJN 03 · AI &amp; VERANTWOORDELIJKHEID</a:t>
            </a:r>
            <a:endParaRPr lang="en-US" sz="1100" dirty="0"/>
          </a:p>
        </p:txBody>
      </p:sp>
      <p:sp>
        <p:nvSpPr>
          <p:cNvPr id="4" name="Text 2"/>
          <p:cNvSpPr/>
          <p:nvPr/>
        </p:nvSpPr>
        <p:spPr>
          <a:xfrm>
            <a:off x="685800" y="804672"/>
            <a:ext cx="8778240" cy="960120"/>
          </a:xfrm>
          <a:prstGeom prst="rect">
            <a:avLst/>
          </a:prstGeom>
          <a:noFill/>
          <a:ln/>
        </p:spPr>
        <p:txBody>
          <a:bodyPr wrap="square" lIns="0" tIns="0" rIns="0" bIns="0" rtlCol="0" anchor="ctr"/>
          <a:lstStyle/>
          <a:p>
            <a:pPr indent="0" marL="0">
              <a:buNone/>
            </a:pPr>
            <a:r>
              <a:rPr lang="en-US" sz="2900" b="1" dirty="0">
                <a:solidFill>
                  <a:srgbClr val="A81264"/>
                </a:solidFill>
                <a:latin typeface="Arial" pitchFamily="34" charset="0"/>
                <a:ea typeface="Arial" pitchFamily="34" charset="-122"/>
                <a:cs typeface="Arial" pitchFamily="34" charset="-120"/>
              </a:rPr>
              <a:t>"AI met transparantie, controle en vertrouwen."</a:t>
            </a:r>
            <a:endParaRPr lang="en-US" sz="2900" dirty="0"/>
          </a:p>
        </p:txBody>
      </p:sp>
      <p:sp>
        <p:nvSpPr>
          <p:cNvPr id="5" name="Text 3"/>
          <p:cNvSpPr/>
          <p:nvPr/>
        </p:nvSpPr>
        <p:spPr>
          <a:xfrm>
            <a:off x="685800" y="1783080"/>
            <a:ext cx="8229600" cy="320040"/>
          </a:xfrm>
          <a:prstGeom prst="rect">
            <a:avLst/>
          </a:prstGeom>
          <a:noFill/>
          <a:ln/>
        </p:spPr>
        <p:txBody>
          <a:bodyPr wrap="square" lIns="0" tIns="0" rIns="0" bIns="0" rtlCol="0" anchor="ctr"/>
          <a:lstStyle/>
          <a:p>
            <a:pPr indent="0" marL="0">
              <a:buNone/>
            </a:pPr>
            <a:r>
              <a:rPr lang="en-US" sz="1200" i="1" dirty="0">
                <a:solidFill>
                  <a:srgbClr val="98A1B3"/>
                </a:solidFill>
                <a:latin typeface="Arial" pitchFamily="34" charset="0"/>
                <a:ea typeface="Arial" pitchFamily="34" charset="-122"/>
                <a:cs typeface="Arial" pitchFamily="34" charset="-120"/>
              </a:rPr>
              <a:t>Governance, ethiek, privacy en naleving van de EU AI Act.</a:t>
            </a:r>
            <a:endParaRPr lang="en-US" sz="1200" dirty="0"/>
          </a:p>
        </p:txBody>
      </p:sp>
      <p:sp>
        <p:nvSpPr>
          <p:cNvPr id="6" name="Text 4"/>
          <p:cNvSpPr/>
          <p:nvPr/>
        </p:nvSpPr>
        <p:spPr>
          <a:xfrm>
            <a:off x="685800" y="2240280"/>
            <a:ext cx="10607040" cy="914400"/>
          </a:xfrm>
          <a:prstGeom prst="rect">
            <a:avLst/>
          </a:prstGeom>
          <a:noFill/>
          <a:ln/>
        </p:spPr>
        <p:txBody>
          <a:bodyPr wrap="square" lIns="0" tIns="0" rIns="0" bIns="0" rtlCol="0" anchor="ctr"/>
          <a:lstStyle/>
          <a:p>
            <a:pPr indent="0" marL="0">
              <a:buNone/>
            </a:pPr>
            <a:r>
              <a:rPr lang="en-US" sz="1250" dirty="0">
                <a:solidFill>
                  <a:srgbClr val="4A5568"/>
                </a:solidFill>
                <a:latin typeface="Arial" pitchFamily="34" charset="0"/>
                <a:ea typeface="Arial" pitchFamily="34" charset="-122"/>
                <a:cs typeface="Arial" pitchFamily="34" charset="-120"/>
              </a:rPr>
              <a:t>Wij zetten geen AI in zonder grip op wat het doet. Ook bij bestaande tools horen altijd een verwerkersovereenkomst, een privacytoets en openheid. Met het AI-beleid v2.0 is de eerste stap gezet. Vertrouwen is voor ons een actieve keuze, elke dag opnieuw.</a:t>
            </a:r>
            <a:endParaRPr lang="en-US" sz="1250" dirty="0"/>
          </a:p>
        </p:txBody>
      </p:sp>
      <p:sp>
        <p:nvSpPr>
          <p:cNvPr id="7" name="Text 5"/>
          <p:cNvSpPr/>
          <p:nvPr/>
        </p:nvSpPr>
        <p:spPr>
          <a:xfrm>
            <a:off x="685800" y="3246120"/>
            <a:ext cx="5486400" cy="274320"/>
          </a:xfrm>
          <a:prstGeom prst="rect">
            <a:avLst/>
          </a:prstGeom>
          <a:noFill/>
          <a:ln/>
        </p:spPr>
        <p:txBody>
          <a:bodyPr wrap="square" lIns="0" tIns="0" rIns="0" bIns="0" rtlCol="0" anchor="ctr"/>
          <a:lstStyle/>
          <a:p>
            <a:pPr indent="0" marL="0">
              <a:buNone/>
            </a:pPr>
            <a:r>
              <a:rPr lang="en-US" sz="1100" b="1" spc="300" kern="0" dirty="0">
                <a:solidFill>
                  <a:srgbClr val="E91E8C"/>
                </a:solidFill>
                <a:latin typeface="Arial" pitchFamily="34" charset="0"/>
                <a:ea typeface="Arial" pitchFamily="34" charset="-122"/>
                <a:cs typeface="Arial" pitchFamily="34" charset="-120"/>
              </a:rPr>
              <a:t>DIT KIEZEN WIJ TOT 2030</a:t>
            </a:r>
            <a:endParaRPr lang="en-US" sz="1100" dirty="0"/>
          </a:p>
        </p:txBody>
      </p:sp>
      <p:sp>
        <p:nvSpPr>
          <p:cNvPr id="8" name="Shape 6"/>
          <p:cNvSpPr/>
          <p:nvPr/>
        </p:nvSpPr>
        <p:spPr>
          <a:xfrm>
            <a:off x="685800" y="3721608"/>
            <a:ext cx="146304" cy="146304"/>
          </a:xfrm>
          <a:prstGeom prst="diamond">
            <a:avLst/>
          </a:prstGeom>
          <a:solidFill>
            <a:srgbClr val="E91E8C"/>
          </a:solidFill>
          <a:ln/>
        </p:spPr>
      </p:sp>
      <p:sp>
        <p:nvSpPr>
          <p:cNvPr id="9" name="Text 7"/>
          <p:cNvSpPr/>
          <p:nvPr/>
        </p:nvSpPr>
        <p:spPr>
          <a:xfrm>
            <a:off x="978408" y="3657600"/>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richten een AI-governancestructuur in met heldere verantwoordelijkheden en periodieke rapportage.</a:t>
            </a:r>
            <a:endParaRPr lang="en-US" sz="1050" dirty="0"/>
          </a:p>
        </p:txBody>
      </p:sp>
      <p:sp>
        <p:nvSpPr>
          <p:cNvPr id="10" name="Shape 8"/>
          <p:cNvSpPr/>
          <p:nvPr/>
        </p:nvSpPr>
        <p:spPr>
          <a:xfrm>
            <a:off x="6263640" y="3721608"/>
            <a:ext cx="146304" cy="146304"/>
          </a:xfrm>
          <a:prstGeom prst="diamond">
            <a:avLst/>
          </a:prstGeom>
          <a:solidFill>
            <a:srgbClr val="E91E8C"/>
          </a:solidFill>
          <a:ln/>
        </p:spPr>
      </p:sp>
      <p:sp>
        <p:nvSpPr>
          <p:cNvPr id="11" name="Text 9"/>
          <p:cNvSpPr/>
          <p:nvPr/>
        </p:nvSpPr>
        <p:spPr>
          <a:xfrm>
            <a:off x="6556248" y="3657600"/>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classificeren alle toepassingen conform de EU AI Act; hoog-risico niet in gebruik zonder check en DPIA.</a:t>
            </a:r>
            <a:endParaRPr lang="en-US" sz="1050" dirty="0"/>
          </a:p>
        </p:txBody>
      </p:sp>
      <p:sp>
        <p:nvSpPr>
          <p:cNvPr id="12" name="Shape 10"/>
          <p:cNvSpPr/>
          <p:nvPr/>
        </p:nvSpPr>
        <p:spPr>
          <a:xfrm>
            <a:off x="685800" y="4745736"/>
            <a:ext cx="146304" cy="146304"/>
          </a:xfrm>
          <a:prstGeom prst="diamond">
            <a:avLst/>
          </a:prstGeom>
          <a:solidFill>
            <a:srgbClr val="E91E8C"/>
          </a:solidFill>
          <a:ln/>
        </p:spPr>
      </p:sp>
      <p:sp>
        <p:nvSpPr>
          <p:cNvPr id="13" name="Text 11"/>
          <p:cNvSpPr/>
          <p:nvPr/>
        </p:nvSpPr>
        <p:spPr>
          <a:xfrm>
            <a:off x="978408" y="4681728"/>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leggen in een ethisch waardenkompas en een Acceptable AI Use Policy vast wat wij wel en niet doen.</a:t>
            </a:r>
            <a:endParaRPr lang="en-US" sz="1050" dirty="0"/>
          </a:p>
        </p:txBody>
      </p:sp>
      <p:sp>
        <p:nvSpPr>
          <p:cNvPr id="14" name="Shape 12"/>
          <p:cNvSpPr/>
          <p:nvPr/>
        </p:nvSpPr>
        <p:spPr>
          <a:xfrm>
            <a:off x="6263640" y="4745736"/>
            <a:ext cx="146304" cy="146304"/>
          </a:xfrm>
          <a:prstGeom prst="diamond">
            <a:avLst/>
          </a:prstGeom>
          <a:solidFill>
            <a:srgbClr val="E91E8C"/>
          </a:solidFill>
          <a:ln/>
        </p:spPr>
      </p:sp>
      <p:sp>
        <p:nvSpPr>
          <p:cNvPr id="15" name="Text 13"/>
          <p:cNvSpPr/>
          <p:nvPr/>
        </p:nvSpPr>
        <p:spPr>
          <a:xfrm>
            <a:off x="6556248" y="4681728"/>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trainen iedereen die AI inkoopt of inzet in privacy- en securityrisico's.</a:t>
            </a:r>
            <a:endParaRPr lang="en-US" sz="1050" dirty="0"/>
          </a:p>
        </p:txBody>
      </p:sp>
      <p:sp>
        <p:nvSpPr>
          <p:cNvPr id="16" name="Shape 14"/>
          <p:cNvSpPr/>
          <p:nvPr/>
        </p:nvSpPr>
        <p:spPr>
          <a:xfrm>
            <a:off x="685800" y="5806440"/>
            <a:ext cx="10835640" cy="685800"/>
          </a:xfrm>
          <a:prstGeom prst="roundRect">
            <a:avLst>
              <a:gd name="adj" fmla="val 9333"/>
            </a:avLst>
          </a:prstGeom>
          <a:solidFill>
            <a:srgbClr val="FCE4F0"/>
          </a:solidFill>
          <a:ln/>
        </p:spPr>
      </p:sp>
      <p:sp>
        <p:nvSpPr>
          <p:cNvPr id="17" name="Text 15"/>
          <p:cNvSpPr/>
          <p:nvPr/>
        </p:nvSpPr>
        <p:spPr>
          <a:xfrm>
            <a:off x="914400" y="5806440"/>
            <a:ext cx="868680" cy="685800"/>
          </a:xfrm>
          <a:prstGeom prst="rect">
            <a:avLst/>
          </a:prstGeom>
          <a:noFill/>
          <a:ln/>
        </p:spPr>
        <p:txBody>
          <a:bodyPr wrap="square" lIns="0" tIns="0" rIns="0" bIns="0" rtlCol="0" anchor="ctr"/>
          <a:lstStyle/>
          <a:p>
            <a:pPr indent="0" marL="0">
              <a:buNone/>
            </a:pPr>
            <a:r>
              <a:rPr lang="en-US" sz="1900" b="1" dirty="0">
                <a:solidFill>
                  <a:srgbClr val="E91E8C"/>
                </a:solidFill>
                <a:latin typeface="Arial" pitchFamily="34" charset="0"/>
                <a:ea typeface="Arial" pitchFamily="34" charset="-122"/>
                <a:cs typeface="Arial" pitchFamily="34" charset="-120"/>
              </a:rPr>
              <a:t>2030</a:t>
            </a:r>
            <a:endParaRPr lang="en-US" sz="1900" dirty="0"/>
          </a:p>
        </p:txBody>
      </p:sp>
      <p:sp>
        <p:nvSpPr>
          <p:cNvPr id="18" name="Text 16"/>
          <p:cNvSpPr/>
          <p:nvPr/>
        </p:nvSpPr>
        <p:spPr>
          <a:xfrm>
            <a:off x="1828800" y="5806440"/>
            <a:ext cx="9464040" cy="685800"/>
          </a:xfrm>
          <a:prstGeom prst="rect">
            <a:avLst/>
          </a:prstGeom>
          <a:noFill/>
          <a:ln/>
        </p:spPr>
        <p:txBody>
          <a:bodyPr wrap="square" lIns="0" tIns="0" rIns="0" bIns="0" rtlCol="0" anchor="ctr"/>
          <a:lstStyle/>
          <a:p>
            <a:pPr indent="0" marL="0">
              <a:buNone/>
            </a:pPr>
            <a:r>
              <a:rPr lang="en-US" sz="1150" b="1" dirty="0">
                <a:solidFill>
                  <a:srgbClr val="A81264"/>
                </a:solidFill>
                <a:latin typeface="Arial" pitchFamily="34" charset="0"/>
                <a:ea typeface="Arial" pitchFamily="34" charset="-122"/>
                <a:cs typeface="Arial" pitchFamily="34" charset="-120"/>
              </a:rPr>
              <a:t>Gevalideerde AI-governancestructuur. Jaarlijkse rapportage aan CvB en medezeggenschapsorganen.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595360" y="-502920"/>
            <a:ext cx="3657600" cy="2926080"/>
          </a:xfrm>
          <a:prstGeom prst="rect">
            <a:avLst/>
          </a:prstGeom>
          <a:noFill/>
          <a:ln/>
        </p:spPr>
        <p:txBody>
          <a:bodyPr wrap="square" lIns="0" tIns="0" rIns="0" bIns="0" rtlCol="0" anchor="ctr"/>
          <a:lstStyle/>
          <a:p>
            <a:pPr algn="r" indent="0" marL="0">
              <a:buNone/>
            </a:pPr>
            <a:r>
              <a:rPr lang="en-US" sz="19000" b="1" dirty="0">
                <a:solidFill>
                  <a:srgbClr val="F2E8F9"/>
                </a:solidFill>
                <a:latin typeface="Arial" pitchFamily="34" charset="0"/>
                <a:ea typeface="Arial" pitchFamily="34" charset="-122"/>
                <a:cs typeface="Arial" pitchFamily="34" charset="-120"/>
              </a:rPr>
              <a:t>04</a:t>
            </a:r>
            <a:endParaRPr lang="en-US" sz="19000" dirty="0"/>
          </a:p>
        </p:txBody>
      </p:sp>
      <p:sp>
        <p:nvSpPr>
          <p:cNvPr id="3" name="Text 1"/>
          <p:cNvSpPr/>
          <p:nvPr/>
        </p:nvSpPr>
        <p:spPr>
          <a:xfrm>
            <a:off x="685800" y="457200"/>
            <a:ext cx="9144000" cy="292608"/>
          </a:xfrm>
          <a:prstGeom prst="rect">
            <a:avLst/>
          </a:prstGeom>
          <a:noFill/>
          <a:ln/>
        </p:spPr>
        <p:txBody>
          <a:bodyPr wrap="square" lIns="0" tIns="0" rIns="0" bIns="0" rtlCol="0" anchor="ctr"/>
          <a:lstStyle/>
          <a:p>
            <a:pPr indent="0" marL="0">
              <a:buNone/>
            </a:pPr>
            <a:r>
              <a:rPr lang="en-US" sz="1100" b="1" spc="300" kern="0" dirty="0">
                <a:solidFill>
                  <a:srgbClr val="7C3AED"/>
                </a:solidFill>
                <a:latin typeface="Arial" pitchFamily="34" charset="0"/>
                <a:ea typeface="Arial" pitchFamily="34" charset="-122"/>
                <a:cs typeface="Arial" pitchFamily="34" charset="-120"/>
              </a:rPr>
              <a:t>KOERSLIJN 04 · AI &amp; GELETTERDHEID</a:t>
            </a:r>
            <a:endParaRPr lang="en-US" sz="1100" dirty="0"/>
          </a:p>
        </p:txBody>
      </p:sp>
      <p:sp>
        <p:nvSpPr>
          <p:cNvPr id="4" name="Text 2"/>
          <p:cNvSpPr/>
          <p:nvPr/>
        </p:nvSpPr>
        <p:spPr>
          <a:xfrm>
            <a:off x="685800" y="804672"/>
            <a:ext cx="8778240" cy="960120"/>
          </a:xfrm>
          <a:prstGeom prst="rect">
            <a:avLst/>
          </a:prstGeom>
          <a:noFill/>
          <a:ln/>
        </p:spPr>
        <p:txBody>
          <a:bodyPr wrap="square" lIns="0" tIns="0" rIns="0" bIns="0" rtlCol="0" anchor="ctr"/>
          <a:lstStyle/>
          <a:p>
            <a:pPr indent="0" marL="0">
              <a:buNone/>
            </a:pPr>
            <a:r>
              <a:rPr lang="en-US" sz="2900" b="1" dirty="0">
                <a:solidFill>
                  <a:srgbClr val="56279E"/>
                </a:solidFill>
                <a:latin typeface="Arial" pitchFamily="34" charset="0"/>
                <a:ea typeface="Arial" pitchFamily="34" charset="-122"/>
                <a:cs typeface="Arial" pitchFamily="34" charset="-120"/>
              </a:rPr>
              <a:t>"Iedereen AI-vaardig, niemand afhankelijk."</a:t>
            </a:r>
            <a:endParaRPr lang="en-US" sz="2900" dirty="0"/>
          </a:p>
        </p:txBody>
      </p:sp>
      <p:sp>
        <p:nvSpPr>
          <p:cNvPr id="5" name="Text 3"/>
          <p:cNvSpPr/>
          <p:nvPr/>
        </p:nvSpPr>
        <p:spPr>
          <a:xfrm>
            <a:off x="685800" y="1783080"/>
            <a:ext cx="8229600" cy="320040"/>
          </a:xfrm>
          <a:prstGeom prst="rect">
            <a:avLst/>
          </a:prstGeom>
          <a:noFill/>
          <a:ln/>
        </p:spPr>
        <p:txBody>
          <a:bodyPr wrap="square" lIns="0" tIns="0" rIns="0" bIns="0" rtlCol="0" anchor="ctr"/>
          <a:lstStyle/>
          <a:p>
            <a:pPr indent="0" marL="0">
              <a:buNone/>
            </a:pPr>
            <a:r>
              <a:rPr lang="en-US" sz="1200" i="1" dirty="0">
                <a:solidFill>
                  <a:srgbClr val="98A1B3"/>
                </a:solidFill>
                <a:latin typeface="Arial" pitchFamily="34" charset="0"/>
                <a:ea typeface="Arial" pitchFamily="34" charset="-122"/>
                <a:cs typeface="Arial" pitchFamily="34" charset="-120"/>
              </a:rPr>
              <a:t>Basisvaardigheden, professionalisering en kritisch denken.</a:t>
            </a:r>
            <a:endParaRPr lang="en-US" sz="1200" dirty="0"/>
          </a:p>
        </p:txBody>
      </p:sp>
      <p:sp>
        <p:nvSpPr>
          <p:cNvPr id="6" name="Text 4"/>
          <p:cNvSpPr/>
          <p:nvPr/>
        </p:nvSpPr>
        <p:spPr>
          <a:xfrm>
            <a:off x="685800" y="2240280"/>
            <a:ext cx="10607040" cy="914400"/>
          </a:xfrm>
          <a:prstGeom prst="rect">
            <a:avLst/>
          </a:prstGeom>
          <a:noFill/>
          <a:ln/>
        </p:spPr>
        <p:txBody>
          <a:bodyPr wrap="square" lIns="0" tIns="0" rIns="0" bIns="0" rtlCol="0" anchor="ctr"/>
          <a:lstStyle/>
          <a:p>
            <a:pPr indent="0" marL="0">
              <a:buNone/>
            </a:pPr>
            <a:r>
              <a:rPr lang="en-US" sz="1250" dirty="0">
                <a:solidFill>
                  <a:srgbClr val="4A5568"/>
                </a:solidFill>
                <a:latin typeface="Arial" pitchFamily="34" charset="0"/>
                <a:ea typeface="Arial" pitchFamily="34" charset="-122"/>
                <a:cs typeface="Arial" pitchFamily="34" charset="-120"/>
              </a:rPr>
              <a:t>Wij maken AI-geletterdheid een basisvaardigheid voor iedereen: AI begrijpen, beoordelen en bewust inzetten, passend bij ieders rol. Kritisch denken en digitale weerbaarheid horen daarbij, want vaardigheid mag nooit omslaan in blinde afhankelijkheid.</a:t>
            </a:r>
            <a:endParaRPr lang="en-US" sz="1250" dirty="0"/>
          </a:p>
        </p:txBody>
      </p:sp>
      <p:sp>
        <p:nvSpPr>
          <p:cNvPr id="7" name="Text 5"/>
          <p:cNvSpPr/>
          <p:nvPr/>
        </p:nvSpPr>
        <p:spPr>
          <a:xfrm>
            <a:off x="685800" y="3246120"/>
            <a:ext cx="5486400" cy="274320"/>
          </a:xfrm>
          <a:prstGeom prst="rect">
            <a:avLst/>
          </a:prstGeom>
          <a:noFill/>
          <a:ln/>
        </p:spPr>
        <p:txBody>
          <a:bodyPr wrap="square" lIns="0" tIns="0" rIns="0" bIns="0" rtlCol="0" anchor="ctr"/>
          <a:lstStyle/>
          <a:p>
            <a:pPr indent="0" marL="0">
              <a:buNone/>
            </a:pPr>
            <a:r>
              <a:rPr lang="en-US" sz="1100" b="1" spc="300" kern="0" dirty="0">
                <a:solidFill>
                  <a:srgbClr val="7C3AED"/>
                </a:solidFill>
                <a:latin typeface="Arial" pitchFamily="34" charset="0"/>
                <a:ea typeface="Arial" pitchFamily="34" charset="-122"/>
                <a:cs typeface="Arial" pitchFamily="34" charset="-120"/>
              </a:rPr>
              <a:t>DIT KIEZEN WIJ TOT 2030</a:t>
            </a:r>
            <a:endParaRPr lang="en-US" sz="1100" dirty="0"/>
          </a:p>
        </p:txBody>
      </p:sp>
      <p:sp>
        <p:nvSpPr>
          <p:cNvPr id="8" name="Shape 6"/>
          <p:cNvSpPr/>
          <p:nvPr/>
        </p:nvSpPr>
        <p:spPr>
          <a:xfrm>
            <a:off x="685800" y="3721608"/>
            <a:ext cx="146304" cy="146304"/>
          </a:xfrm>
          <a:prstGeom prst="diamond">
            <a:avLst/>
          </a:prstGeom>
          <a:solidFill>
            <a:srgbClr val="7C3AED"/>
          </a:solidFill>
          <a:ln/>
        </p:spPr>
      </p:sp>
      <p:sp>
        <p:nvSpPr>
          <p:cNvPr id="9" name="Text 7"/>
          <p:cNvSpPr/>
          <p:nvPr/>
        </p:nvSpPr>
        <p:spPr>
          <a:xfrm>
            <a:off x="978408" y="3657600"/>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stellen een instellingsbreed basisprofiel AI-geletterdheid vast op basis van AI-GO.</a:t>
            </a:r>
            <a:endParaRPr lang="en-US" sz="1050" dirty="0"/>
          </a:p>
        </p:txBody>
      </p:sp>
      <p:sp>
        <p:nvSpPr>
          <p:cNvPr id="10" name="Shape 8"/>
          <p:cNvSpPr/>
          <p:nvPr/>
        </p:nvSpPr>
        <p:spPr>
          <a:xfrm>
            <a:off x="6263640" y="3721608"/>
            <a:ext cx="146304" cy="146304"/>
          </a:xfrm>
          <a:prstGeom prst="diamond">
            <a:avLst/>
          </a:prstGeom>
          <a:solidFill>
            <a:srgbClr val="7C3AED"/>
          </a:solidFill>
          <a:ln/>
        </p:spPr>
      </p:sp>
      <p:sp>
        <p:nvSpPr>
          <p:cNvPr id="11" name="Text 9"/>
          <p:cNvSpPr/>
          <p:nvPr/>
        </p:nvSpPr>
        <p:spPr>
          <a:xfrm>
            <a:off x="6556248" y="3657600"/>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ondersteunen docenten gericht: peer learning, praktijkvoorbeelden en risicobewustzijn via onder andere ARDA.</a:t>
            </a:r>
            <a:endParaRPr lang="en-US" sz="1050" dirty="0"/>
          </a:p>
        </p:txBody>
      </p:sp>
      <p:sp>
        <p:nvSpPr>
          <p:cNvPr id="12" name="Shape 10"/>
          <p:cNvSpPr/>
          <p:nvPr/>
        </p:nvSpPr>
        <p:spPr>
          <a:xfrm>
            <a:off x="685800" y="4745736"/>
            <a:ext cx="146304" cy="146304"/>
          </a:xfrm>
          <a:prstGeom prst="diamond">
            <a:avLst/>
          </a:prstGeom>
          <a:solidFill>
            <a:srgbClr val="7C3AED"/>
          </a:solidFill>
          <a:ln/>
        </p:spPr>
      </p:sp>
      <p:sp>
        <p:nvSpPr>
          <p:cNvPr id="13" name="Text 11"/>
          <p:cNvSpPr/>
          <p:nvPr/>
        </p:nvSpPr>
        <p:spPr>
          <a:xfrm>
            <a:off x="978408" y="4681728"/>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sluiten aan bij nationale initiatieven (Npuls, SURF) en dragen bij waar onze expertise meerwaarde heeft.</a:t>
            </a:r>
            <a:endParaRPr lang="en-US" sz="1050" dirty="0"/>
          </a:p>
        </p:txBody>
      </p:sp>
      <p:sp>
        <p:nvSpPr>
          <p:cNvPr id="14" name="Shape 12"/>
          <p:cNvSpPr/>
          <p:nvPr/>
        </p:nvSpPr>
        <p:spPr>
          <a:xfrm>
            <a:off x="6263640" y="4745736"/>
            <a:ext cx="146304" cy="146304"/>
          </a:xfrm>
          <a:prstGeom prst="diamond">
            <a:avLst/>
          </a:prstGeom>
          <a:solidFill>
            <a:srgbClr val="7C3AED"/>
          </a:solidFill>
          <a:ln/>
        </p:spPr>
      </p:sp>
      <p:sp>
        <p:nvSpPr>
          <p:cNvPr id="15" name="Text 13"/>
          <p:cNvSpPr/>
          <p:nvPr/>
        </p:nvSpPr>
        <p:spPr>
          <a:xfrm>
            <a:off x="6556248" y="4681728"/>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verankeren AI-geletterdheid in onboarding, professionalisering en het curriculum van alle opleidingen.</a:t>
            </a:r>
            <a:endParaRPr lang="en-US" sz="1050" dirty="0"/>
          </a:p>
        </p:txBody>
      </p:sp>
      <p:sp>
        <p:nvSpPr>
          <p:cNvPr id="16" name="Shape 14"/>
          <p:cNvSpPr/>
          <p:nvPr/>
        </p:nvSpPr>
        <p:spPr>
          <a:xfrm>
            <a:off x="685800" y="5806440"/>
            <a:ext cx="10835640" cy="685800"/>
          </a:xfrm>
          <a:prstGeom prst="roundRect">
            <a:avLst>
              <a:gd name="adj" fmla="val 9333"/>
            </a:avLst>
          </a:prstGeom>
          <a:solidFill>
            <a:srgbClr val="F2E8F9"/>
          </a:solidFill>
          <a:ln/>
        </p:spPr>
      </p:sp>
      <p:sp>
        <p:nvSpPr>
          <p:cNvPr id="17" name="Text 15"/>
          <p:cNvSpPr/>
          <p:nvPr/>
        </p:nvSpPr>
        <p:spPr>
          <a:xfrm>
            <a:off x="914400" y="5806440"/>
            <a:ext cx="868680" cy="685800"/>
          </a:xfrm>
          <a:prstGeom prst="rect">
            <a:avLst/>
          </a:prstGeom>
          <a:noFill/>
          <a:ln/>
        </p:spPr>
        <p:txBody>
          <a:bodyPr wrap="square" lIns="0" tIns="0" rIns="0" bIns="0" rtlCol="0" anchor="ctr"/>
          <a:lstStyle/>
          <a:p>
            <a:pPr indent="0" marL="0">
              <a:buNone/>
            </a:pPr>
            <a:r>
              <a:rPr lang="en-US" sz="1900" b="1" dirty="0">
                <a:solidFill>
                  <a:srgbClr val="7C3AED"/>
                </a:solidFill>
                <a:latin typeface="Arial" pitchFamily="34" charset="0"/>
                <a:ea typeface="Arial" pitchFamily="34" charset="-122"/>
                <a:cs typeface="Arial" pitchFamily="34" charset="-120"/>
              </a:rPr>
              <a:t>2030</a:t>
            </a:r>
            <a:endParaRPr lang="en-US" sz="1900" dirty="0"/>
          </a:p>
        </p:txBody>
      </p:sp>
      <p:sp>
        <p:nvSpPr>
          <p:cNvPr id="18" name="Text 16"/>
          <p:cNvSpPr/>
          <p:nvPr/>
        </p:nvSpPr>
        <p:spPr>
          <a:xfrm>
            <a:off x="1828800" y="5806440"/>
            <a:ext cx="9464040" cy="685800"/>
          </a:xfrm>
          <a:prstGeom prst="rect">
            <a:avLst/>
          </a:prstGeom>
          <a:noFill/>
          <a:ln/>
        </p:spPr>
        <p:txBody>
          <a:bodyPr wrap="square" lIns="0" tIns="0" rIns="0" bIns="0" rtlCol="0" anchor="ctr"/>
          <a:lstStyle/>
          <a:p>
            <a:pPr indent="0" marL="0">
              <a:buNone/>
            </a:pPr>
            <a:r>
              <a:rPr lang="en-US" sz="1150" b="1" dirty="0">
                <a:solidFill>
                  <a:srgbClr val="56279E"/>
                </a:solidFill>
                <a:latin typeface="Arial" pitchFamily="34" charset="0"/>
                <a:ea typeface="Arial" pitchFamily="34" charset="-122"/>
                <a:cs typeface="Arial" pitchFamily="34" charset="-120"/>
              </a:rPr>
              <a:t>80% van de medewerkers heeft het vastgestelde basisniveau AI-geletterdheid bereikt.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595360" y="-502920"/>
            <a:ext cx="3657600" cy="2926080"/>
          </a:xfrm>
          <a:prstGeom prst="rect">
            <a:avLst/>
          </a:prstGeom>
          <a:noFill/>
          <a:ln/>
        </p:spPr>
        <p:txBody>
          <a:bodyPr wrap="square" lIns="0" tIns="0" rIns="0" bIns="0" rtlCol="0" anchor="ctr"/>
          <a:lstStyle/>
          <a:p>
            <a:pPr algn="r" indent="0" marL="0">
              <a:buNone/>
            </a:pPr>
            <a:r>
              <a:rPr lang="en-US" sz="19000" b="1" dirty="0">
                <a:solidFill>
                  <a:srgbClr val="FAEEE9"/>
                </a:solidFill>
                <a:latin typeface="Arial" pitchFamily="34" charset="0"/>
                <a:ea typeface="Arial" pitchFamily="34" charset="-122"/>
                <a:cs typeface="Arial" pitchFamily="34" charset="-120"/>
              </a:rPr>
              <a:t>05</a:t>
            </a:r>
            <a:endParaRPr lang="en-US" sz="19000" dirty="0"/>
          </a:p>
        </p:txBody>
      </p:sp>
      <p:sp>
        <p:nvSpPr>
          <p:cNvPr id="3" name="Text 1"/>
          <p:cNvSpPr/>
          <p:nvPr/>
        </p:nvSpPr>
        <p:spPr>
          <a:xfrm>
            <a:off x="685800" y="457200"/>
            <a:ext cx="9144000" cy="292608"/>
          </a:xfrm>
          <a:prstGeom prst="rect">
            <a:avLst/>
          </a:prstGeom>
          <a:noFill/>
          <a:ln/>
        </p:spPr>
        <p:txBody>
          <a:bodyPr wrap="square" lIns="0" tIns="0" rIns="0" bIns="0" rtlCol="0" anchor="ctr"/>
          <a:lstStyle/>
          <a:p>
            <a:pPr indent="0" marL="0">
              <a:buNone/>
            </a:pPr>
            <a:r>
              <a:rPr lang="en-US" sz="1100" b="1" spc="300" kern="0" dirty="0">
                <a:solidFill>
                  <a:srgbClr val="B45309"/>
                </a:solidFill>
                <a:latin typeface="Arial" pitchFamily="34" charset="0"/>
                <a:ea typeface="Arial" pitchFamily="34" charset="-122"/>
                <a:cs typeface="Arial" pitchFamily="34" charset="-120"/>
              </a:rPr>
              <a:t>KOERSLIJN 05 · AI &amp; WERKVELD</a:t>
            </a:r>
            <a:endParaRPr lang="en-US" sz="1100" dirty="0"/>
          </a:p>
        </p:txBody>
      </p:sp>
      <p:sp>
        <p:nvSpPr>
          <p:cNvPr id="4" name="Text 2"/>
          <p:cNvSpPr/>
          <p:nvPr/>
        </p:nvSpPr>
        <p:spPr>
          <a:xfrm>
            <a:off x="685800" y="804672"/>
            <a:ext cx="8778240" cy="960120"/>
          </a:xfrm>
          <a:prstGeom prst="rect">
            <a:avLst/>
          </a:prstGeom>
          <a:noFill/>
          <a:ln/>
        </p:spPr>
        <p:txBody>
          <a:bodyPr wrap="square" lIns="0" tIns="0" rIns="0" bIns="0" rtlCol="0" anchor="ctr"/>
          <a:lstStyle/>
          <a:p>
            <a:pPr indent="0" marL="0">
              <a:buNone/>
            </a:pPr>
            <a:r>
              <a:rPr lang="en-US" sz="2900" b="1" dirty="0">
                <a:solidFill>
                  <a:srgbClr val="7C3906"/>
                </a:solidFill>
                <a:latin typeface="Arial" pitchFamily="34" charset="0"/>
                <a:ea typeface="Arial" pitchFamily="34" charset="-122"/>
                <a:cs typeface="Arial" pitchFamily="34" charset="-120"/>
              </a:rPr>
              <a:t>"Samen met het werkveld versnellen we innovatie."</a:t>
            </a:r>
            <a:endParaRPr lang="en-US" sz="2900" dirty="0"/>
          </a:p>
        </p:txBody>
      </p:sp>
      <p:sp>
        <p:nvSpPr>
          <p:cNvPr id="5" name="Text 3"/>
          <p:cNvSpPr/>
          <p:nvPr/>
        </p:nvSpPr>
        <p:spPr>
          <a:xfrm>
            <a:off x="685800" y="1783080"/>
            <a:ext cx="8229600" cy="320040"/>
          </a:xfrm>
          <a:prstGeom prst="rect">
            <a:avLst/>
          </a:prstGeom>
          <a:noFill/>
          <a:ln/>
        </p:spPr>
        <p:txBody>
          <a:bodyPr wrap="square" lIns="0" tIns="0" rIns="0" bIns="0" rtlCol="0" anchor="ctr"/>
          <a:lstStyle/>
          <a:p>
            <a:pPr indent="0" marL="0">
              <a:buNone/>
            </a:pPr>
            <a:r>
              <a:rPr lang="en-US" sz="1200" i="1" dirty="0">
                <a:solidFill>
                  <a:srgbClr val="98A1B3"/>
                </a:solidFill>
                <a:latin typeface="Arial" pitchFamily="34" charset="0"/>
                <a:ea typeface="Arial" pitchFamily="34" charset="-122"/>
                <a:cs typeface="Arial" pitchFamily="34" charset="-120"/>
              </a:rPr>
              <a:t>Regionale samenwerking, arbeidsmarkt en praktijkopdrachten.</a:t>
            </a:r>
            <a:endParaRPr lang="en-US" sz="1200" dirty="0"/>
          </a:p>
        </p:txBody>
      </p:sp>
      <p:sp>
        <p:nvSpPr>
          <p:cNvPr id="6" name="Text 4"/>
          <p:cNvSpPr/>
          <p:nvPr/>
        </p:nvSpPr>
        <p:spPr>
          <a:xfrm>
            <a:off x="685800" y="2240280"/>
            <a:ext cx="10607040" cy="914400"/>
          </a:xfrm>
          <a:prstGeom prst="rect">
            <a:avLst/>
          </a:prstGeom>
          <a:noFill/>
          <a:ln/>
        </p:spPr>
        <p:txBody>
          <a:bodyPr wrap="square" lIns="0" tIns="0" rIns="0" bIns="0" rtlCol="0" anchor="ctr"/>
          <a:lstStyle/>
          <a:p>
            <a:pPr indent="0" marL="0">
              <a:buNone/>
            </a:pPr>
            <a:r>
              <a:rPr lang="en-US" sz="1250" dirty="0">
                <a:solidFill>
                  <a:srgbClr val="4A5568"/>
                </a:solidFill>
                <a:latin typeface="Arial" pitchFamily="34" charset="0"/>
                <a:ea typeface="Arial" pitchFamily="34" charset="-122"/>
                <a:cs typeface="Arial" pitchFamily="34" charset="-120"/>
              </a:rPr>
              <a:t>Wij staan midden in de regio, en dat willen wij laten merken. Onze studenten en docenten werken aan echte AI-vraagstukken uit de Friese en Noord-Nederlandse praktijk, met de Friese AI-propositie en de opschaling van Vision Technology als concrete dragers.</a:t>
            </a:r>
            <a:endParaRPr lang="en-US" sz="1250" dirty="0"/>
          </a:p>
        </p:txBody>
      </p:sp>
      <p:sp>
        <p:nvSpPr>
          <p:cNvPr id="7" name="Text 5"/>
          <p:cNvSpPr/>
          <p:nvPr/>
        </p:nvSpPr>
        <p:spPr>
          <a:xfrm>
            <a:off x="685800" y="3246120"/>
            <a:ext cx="5486400" cy="274320"/>
          </a:xfrm>
          <a:prstGeom prst="rect">
            <a:avLst/>
          </a:prstGeom>
          <a:noFill/>
          <a:ln/>
        </p:spPr>
        <p:txBody>
          <a:bodyPr wrap="square" lIns="0" tIns="0" rIns="0" bIns="0" rtlCol="0" anchor="ctr"/>
          <a:lstStyle/>
          <a:p>
            <a:pPr indent="0" marL="0">
              <a:buNone/>
            </a:pPr>
            <a:r>
              <a:rPr lang="en-US" sz="1100" b="1" spc="300" kern="0" dirty="0">
                <a:solidFill>
                  <a:srgbClr val="B45309"/>
                </a:solidFill>
                <a:latin typeface="Arial" pitchFamily="34" charset="0"/>
                <a:ea typeface="Arial" pitchFamily="34" charset="-122"/>
                <a:cs typeface="Arial" pitchFamily="34" charset="-120"/>
              </a:rPr>
              <a:t>DIT KIEZEN WIJ TOT 2030</a:t>
            </a:r>
            <a:endParaRPr lang="en-US" sz="1100" dirty="0"/>
          </a:p>
        </p:txBody>
      </p:sp>
      <p:sp>
        <p:nvSpPr>
          <p:cNvPr id="8" name="Shape 6"/>
          <p:cNvSpPr/>
          <p:nvPr/>
        </p:nvSpPr>
        <p:spPr>
          <a:xfrm>
            <a:off x="685800" y="3721608"/>
            <a:ext cx="146304" cy="146304"/>
          </a:xfrm>
          <a:prstGeom prst="diamond">
            <a:avLst/>
          </a:prstGeom>
          <a:solidFill>
            <a:srgbClr val="B45309"/>
          </a:solidFill>
          <a:ln/>
        </p:spPr>
      </p:sp>
      <p:sp>
        <p:nvSpPr>
          <p:cNvPr id="9" name="Text 7"/>
          <p:cNvSpPr/>
          <p:nvPr/>
        </p:nvSpPr>
        <p:spPr>
          <a:xfrm>
            <a:off x="978408" y="3657600"/>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bedden AI-competenties structureel in in alle opleidingsprofielen, afgestemd met het werkveld.</a:t>
            </a:r>
            <a:endParaRPr lang="en-US" sz="1050" dirty="0"/>
          </a:p>
        </p:txBody>
      </p:sp>
      <p:sp>
        <p:nvSpPr>
          <p:cNvPr id="10" name="Shape 8"/>
          <p:cNvSpPr/>
          <p:nvPr/>
        </p:nvSpPr>
        <p:spPr>
          <a:xfrm>
            <a:off x="6263640" y="3721608"/>
            <a:ext cx="146304" cy="146304"/>
          </a:xfrm>
          <a:prstGeom prst="diamond">
            <a:avLst/>
          </a:prstGeom>
          <a:solidFill>
            <a:srgbClr val="B45309"/>
          </a:solidFill>
          <a:ln/>
        </p:spPr>
      </p:sp>
      <p:sp>
        <p:nvSpPr>
          <p:cNvPr id="11" name="Text 9"/>
          <p:cNvSpPr/>
          <p:nvPr/>
        </p:nvSpPr>
        <p:spPr>
          <a:xfrm>
            <a:off x="6556248" y="3657600"/>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leren samen met werkgevers wat AI betekent voor specifieke beroepen in Noord-Nederland.</a:t>
            </a:r>
            <a:endParaRPr lang="en-US" sz="1050" dirty="0"/>
          </a:p>
        </p:txBody>
      </p:sp>
      <p:sp>
        <p:nvSpPr>
          <p:cNvPr id="12" name="Shape 10"/>
          <p:cNvSpPr/>
          <p:nvPr/>
        </p:nvSpPr>
        <p:spPr>
          <a:xfrm>
            <a:off x="685800" y="4745736"/>
            <a:ext cx="146304" cy="146304"/>
          </a:xfrm>
          <a:prstGeom prst="diamond">
            <a:avLst/>
          </a:prstGeom>
          <a:solidFill>
            <a:srgbClr val="B45309"/>
          </a:solidFill>
          <a:ln/>
        </p:spPr>
      </p:sp>
      <p:sp>
        <p:nvSpPr>
          <p:cNvPr id="13" name="Text 11"/>
          <p:cNvSpPr/>
          <p:nvPr/>
        </p:nvSpPr>
        <p:spPr>
          <a:xfrm>
            <a:off x="978408" y="4681728"/>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faciliteren stages en afstudeeropdrachten rond AI, met kennisoverdracht naar het MKB.</a:t>
            </a:r>
            <a:endParaRPr lang="en-US" sz="1050" dirty="0"/>
          </a:p>
        </p:txBody>
      </p:sp>
      <p:sp>
        <p:nvSpPr>
          <p:cNvPr id="14" name="Shape 12"/>
          <p:cNvSpPr/>
          <p:nvPr/>
        </p:nvSpPr>
        <p:spPr>
          <a:xfrm>
            <a:off x="6263640" y="4745736"/>
            <a:ext cx="146304" cy="146304"/>
          </a:xfrm>
          <a:prstGeom prst="diamond">
            <a:avLst/>
          </a:prstGeom>
          <a:solidFill>
            <a:srgbClr val="B45309"/>
          </a:solidFill>
          <a:ln/>
        </p:spPr>
      </p:sp>
      <p:sp>
        <p:nvSpPr>
          <p:cNvPr id="15" name="Text 13"/>
          <p:cNvSpPr/>
          <p:nvPr/>
        </p:nvSpPr>
        <p:spPr>
          <a:xfrm>
            <a:off x="6556248" y="4681728"/>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investeren in living labs: leeromgevingen met regionale partners rond echte AI-vraagstukken.</a:t>
            </a:r>
            <a:endParaRPr lang="en-US" sz="1050" dirty="0"/>
          </a:p>
        </p:txBody>
      </p:sp>
      <p:sp>
        <p:nvSpPr>
          <p:cNvPr id="16" name="Shape 14"/>
          <p:cNvSpPr/>
          <p:nvPr/>
        </p:nvSpPr>
        <p:spPr>
          <a:xfrm>
            <a:off x="685800" y="5806440"/>
            <a:ext cx="10835640" cy="685800"/>
          </a:xfrm>
          <a:prstGeom prst="roundRect">
            <a:avLst>
              <a:gd name="adj" fmla="val 9333"/>
            </a:avLst>
          </a:prstGeom>
          <a:solidFill>
            <a:srgbClr val="FAEEE9"/>
          </a:solidFill>
          <a:ln/>
        </p:spPr>
      </p:sp>
      <p:sp>
        <p:nvSpPr>
          <p:cNvPr id="17" name="Text 15"/>
          <p:cNvSpPr/>
          <p:nvPr/>
        </p:nvSpPr>
        <p:spPr>
          <a:xfrm>
            <a:off x="914400" y="5806440"/>
            <a:ext cx="868680" cy="685800"/>
          </a:xfrm>
          <a:prstGeom prst="rect">
            <a:avLst/>
          </a:prstGeom>
          <a:noFill/>
          <a:ln/>
        </p:spPr>
        <p:txBody>
          <a:bodyPr wrap="square" lIns="0" tIns="0" rIns="0" bIns="0" rtlCol="0" anchor="ctr"/>
          <a:lstStyle/>
          <a:p>
            <a:pPr indent="0" marL="0">
              <a:buNone/>
            </a:pPr>
            <a:r>
              <a:rPr lang="en-US" sz="1900" b="1" dirty="0">
                <a:solidFill>
                  <a:srgbClr val="B45309"/>
                </a:solidFill>
                <a:latin typeface="Arial" pitchFamily="34" charset="0"/>
                <a:ea typeface="Arial" pitchFamily="34" charset="-122"/>
                <a:cs typeface="Arial" pitchFamily="34" charset="-120"/>
              </a:rPr>
              <a:t>2030</a:t>
            </a:r>
            <a:endParaRPr lang="en-US" sz="1900" dirty="0"/>
          </a:p>
        </p:txBody>
      </p:sp>
      <p:sp>
        <p:nvSpPr>
          <p:cNvPr id="18" name="Text 16"/>
          <p:cNvSpPr/>
          <p:nvPr/>
        </p:nvSpPr>
        <p:spPr>
          <a:xfrm>
            <a:off x="1828800" y="5806440"/>
            <a:ext cx="9464040" cy="685800"/>
          </a:xfrm>
          <a:prstGeom prst="rect">
            <a:avLst/>
          </a:prstGeom>
          <a:noFill/>
          <a:ln/>
        </p:spPr>
        <p:txBody>
          <a:bodyPr wrap="square" lIns="0" tIns="0" rIns="0" bIns="0" rtlCol="0" anchor="ctr"/>
          <a:lstStyle/>
          <a:p>
            <a:pPr indent="0" marL="0">
              <a:buNone/>
            </a:pPr>
            <a:r>
              <a:rPr lang="en-US" sz="1150" b="1" dirty="0">
                <a:solidFill>
                  <a:srgbClr val="7C3906"/>
                </a:solidFill>
                <a:latin typeface="Arial" pitchFamily="34" charset="0"/>
                <a:ea typeface="Arial" pitchFamily="34" charset="-122"/>
                <a:cs typeface="Arial" pitchFamily="34" charset="-120"/>
              </a:rPr>
              <a:t>Elk domein heeft AI verankerd in een kernonderdeel van het curriculum.</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595360" y="-502920"/>
            <a:ext cx="3657600" cy="2926080"/>
          </a:xfrm>
          <a:prstGeom prst="rect">
            <a:avLst/>
          </a:prstGeom>
          <a:noFill/>
          <a:ln/>
        </p:spPr>
        <p:txBody>
          <a:bodyPr wrap="square" lIns="0" tIns="0" rIns="0" bIns="0" rtlCol="0" anchor="ctr"/>
          <a:lstStyle/>
          <a:p>
            <a:pPr algn="r" indent="0" marL="0">
              <a:buNone/>
            </a:pPr>
            <a:r>
              <a:rPr lang="en-US" sz="19000" b="1" dirty="0">
                <a:solidFill>
                  <a:srgbClr val="E4F0F4"/>
                </a:solidFill>
                <a:latin typeface="Arial" pitchFamily="34" charset="0"/>
                <a:ea typeface="Arial" pitchFamily="34" charset="-122"/>
                <a:cs typeface="Arial" pitchFamily="34" charset="-120"/>
              </a:rPr>
              <a:t>06</a:t>
            </a:r>
            <a:endParaRPr lang="en-US" sz="19000" dirty="0"/>
          </a:p>
        </p:txBody>
      </p:sp>
      <p:sp>
        <p:nvSpPr>
          <p:cNvPr id="3" name="Text 1"/>
          <p:cNvSpPr/>
          <p:nvPr/>
        </p:nvSpPr>
        <p:spPr>
          <a:xfrm>
            <a:off x="685800" y="457200"/>
            <a:ext cx="9144000" cy="292608"/>
          </a:xfrm>
          <a:prstGeom prst="rect">
            <a:avLst/>
          </a:prstGeom>
          <a:noFill/>
          <a:ln/>
        </p:spPr>
        <p:txBody>
          <a:bodyPr wrap="square" lIns="0" tIns="0" rIns="0" bIns="0" rtlCol="0" anchor="ctr"/>
          <a:lstStyle/>
          <a:p>
            <a:pPr indent="0" marL="0">
              <a:buNone/>
            </a:pPr>
            <a:r>
              <a:rPr lang="en-US" sz="1100" b="1" spc="300" kern="0" dirty="0">
                <a:solidFill>
                  <a:srgbClr val="0E7490"/>
                </a:solidFill>
                <a:latin typeface="Arial" pitchFamily="34" charset="0"/>
                <a:ea typeface="Arial" pitchFamily="34" charset="-122"/>
                <a:cs typeface="Arial" pitchFamily="34" charset="-120"/>
              </a:rPr>
              <a:t>KOERSLIJN 06 · AI &amp; ONDERZOEK</a:t>
            </a:r>
            <a:endParaRPr lang="en-US" sz="1100" dirty="0"/>
          </a:p>
        </p:txBody>
      </p:sp>
      <p:sp>
        <p:nvSpPr>
          <p:cNvPr id="4" name="Text 2"/>
          <p:cNvSpPr/>
          <p:nvPr/>
        </p:nvSpPr>
        <p:spPr>
          <a:xfrm>
            <a:off x="685800" y="804672"/>
            <a:ext cx="8778240" cy="960120"/>
          </a:xfrm>
          <a:prstGeom prst="rect">
            <a:avLst/>
          </a:prstGeom>
          <a:noFill/>
          <a:ln/>
        </p:spPr>
        <p:txBody>
          <a:bodyPr wrap="square" lIns="0" tIns="0" rIns="0" bIns="0" rtlCol="0" anchor="ctr"/>
          <a:lstStyle/>
          <a:p>
            <a:pPr indent="0" marL="0">
              <a:buNone/>
            </a:pPr>
            <a:r>
              <a:rPr lang="en-US" sz="2900" b="1" dirty="0">
                <a:solidFill>
                  <a:srgbClr val="0A4F63"/>
                </a:solidFill>
                <a:latin typeface="Arial" pitchFamily="34" charset="0"/>
                <a:ea typeface="Arial" pitchFamily="34" charset="-122"/>
                <a:cs typeface="Arial" pitchFamily="34" charset="-120"/>
              </a:rPr>
              <a:t>"AI-onderzoek met impact: praktisch, relevant en toekomstgericht."</a:t>
            </a:r>
            <a:endParaRPr lang="en-US" sz="2900" dirty="0"/>
          </a:p>
        </p:txBody>
      </p:sp>
      <p:sp>
        <p:nvSpPr>
          <p:cNvPr id="5" name="Text 3"/>
          <p:cNvSpPr/>
          <p:nvPr/>
        </p:nvSpPr>
        <p:spPr>
          <a:xfrm>
            <a:off x="685800" y="1783080"/>
            <a:ext cx="8229600" cy="320040"/>
          </a:xfrm>
          <a:prstGeom prst="rect">
            <a:avLst/>
          </a:prstGeom>
          <a:noFill/>
          <a:ln/>
        </p:spPr>
        <p:txBody>
          <a:bodyPr wrap="square" lIns="0" tIns="0" rIns="0" bIns="0" rtlCol="0" anchor="ctr"/>
          <a:lstStyle/>
          <a:p>
            <a:pPr indent="0" marL="0">
              <a:buNone/>
            </a:pPr>
            <a:r>
              <a:rPr lang="en-US" sz="1200" i="1" dirty="0">
                <a:solidFill>
                  <a:srgbClr val="98A1B3"/>
                </a:solidFill>
                <a:latin typeface="Arial" pitchFamily="34" charset="0"/>
                <a:ea typeface="Arial" pitchFamily="34" charset="-122"/>
                <a:cs typeface="Arial" pitchFamily="34" charset="-120"/>
              </a:rPr>
              <a:t>Onderzoeksintegriteit, kennisveiligheid en regionale kennisrol.</a:t>
            </a:r>
            <a:endParaRPr lang="en-US" sz="1200" dirty="0"/>
          </a:p>
        </p:txBody>
      </p:sp>
      <p:sp>
        <p:nvSpPr>
          <p:cNvPr id="6" name="Text 4"/>
          <p:cNvSpPr/>
          <p:nvPr/>
        </p:nvSpPr>
        <p:spPr>
          <a:xfrm>
            <a:off x="685800" y="2240280"/>
            <a:ext cx="10607040" cy="914400"/>
          </a:xfrm>
          <a:prstGeom prst="rect">
            <a:avLst/>
          </a:prstGeom>
          <a:noFill/>
          <a:ln/>
        </p:spPr>
        <p:txBody>
          <a:bodyPr wrap="square" lIns="0" tIns="0" rIns="0" bIns="0" rtlCol="0" anchor="ctr"/>
          <a:lstStyle/>
          <a:p>
            <a:pPr indent="0" marL="0">
              <a:buNone/>
            </a:pPr>
            <a:r>
              <a:rPr lang="en-US" sz="1250" dirty="0">
                <a:solidFill>
                  <a:srgbClr val="4A5568"/>
                </a:solidFill>
                <a:latin typeface="Arial" pitchFamily="34" charset="0"/>
                <a:ea typeface="Arial" pitchFamily="34" charset="-122"/>
                <a:cs typeface="Arial" pitchFamily="34" charset="-120"/>
              </a:rPr>
              <a:t>Wij omarmen AI als onderzoeksinstrument en stellen tegelijk zelf de vragen die AI oproept over integriteit, kennisveiligheid en digitale soevereiniteit. Programma Bach onderstreept dat die transitie ook ons onderzoek raakt. Wij pakken beide kanten op.</a:t>
            </a:r>
            <a:endParaRPr lang="en-US" sz="1250" dirty="0"/>
          </a:p>
        </p:txBody>
      </p:sp>
      <p:sp>
        <p:nvSpPr>
          <p:cNvPr id="7" name="Text 5"/>
          <p:cNvSpPr/>
          <p:nvPr/>
        </p:nvSpPr>
        <p:spPr>
          <a:xfrm>
            <a:off x="685800" y="3246120"/>
            <a:ext cx="5486400" cy="274320"/>
          </a:xfrm>
          <a:prstGeom prst="rect">
            <a:avLst/>
          </a:prstGeom>
          <a:noFill/>
          <a:ln/>
        </p:spPr>
        <p:txBody>
          <a:bodyPr wrap="square" lIns="0" tIns="0" rIns="0" bIns="0" rtlCol="0" anchor="ctr"/>
          <a:lstStyle/>
          <a:p>
            <a:pPr indent="0" marL="0">
              <a:buNone/>
            </a:pPr>
            <a:r>
              <a:rPr lang="en-US" sz="1100" b="1" spc="300" kern="0" dirty="0">
                <a:solidFill>
                  <a:srgbClr val="0E7490"/>
                </a:solidFill>
                <a:latin typeface="Arial" pitchFamily="34" charset="0"/>
                <a:ea typeface="Arial" pitchFamily="34" charset="-122"/>
                <a:cs typeface="Arial" pitchFamily="34" charset="-120"/>
              </a:rPr>
              <a:t>DIT KIEZEN WIJ TOT 2030</a:t>
            </a:r>
            <a:endParaRPr lang="en-US" sz="1100" dirty="0"/>
          </a:p>
        </p:txBody>
      </p:sp>
      <p:sp>
        <p:nvSpPr>
          <p:cNvPr id="8" name="Shape 6"/>
          <p:cNvSpPr/>
          <p:nvPr/>
        </p:nvSpPr>
        <p:spPr>
          <a:xfrm>
            <a:off x="685800" y="3721608"/>
            <a:ext cx="146304" cy="146304"/>
          </a:xfrm>
          <a:prstGeom prst="diamond">
            <a:avLst/>
          </a:prstGeom>
          <a:solidFill>
            <a:srgbClr val="0E7490"/>
          </a:solidFill>
          <a:ln/>
        </p:spPr>
      </p:sp>
      <p:sp>
        <p:nvSpPr>
          <p:cNvPr id="9" name="Text 7"/>
          <p:cNvSpPr/>
          <p:nvPr/>
        </p:nvSpPr>
        <p:spPr>
          <a:xfrm>
            <a:off x="978408" y="3657600"/>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organiseren de verbinding tussen AI-onderzoek en de andere koerslijnen.</a:t>
            </a:r>
            <a:endParaRPr lang="en-US" sz="1050" dirty="0"/>
          </a:p>
        </p:txBody>
      </p:sp>
      <p:sp>
        <p:nvSpPr>
          <p:cNvPr id="10" name="Shape 8"/>
          <p:cNvSpPr/>
          <p:nvPr/>
        </p:nvSpPr>
        <p:spPr>
          <a:xfrm>
            <a:off x="6263640" y="3721608"/>
            <a:ext cx="146304" cy="146304"/>
          </a:xfrm>
          <a:prstGeom prst="diamond">
            <a:avLst/>
          </a:prstGeom>
          <a:solidFill>
            <a:srgbClr val="0E7490"/>
          </a:solidFill>
          <a:ln/>
        </p:spPr>
      </p:sp>
      <p:sp>
        <p:nvSpPr>
          <p:cNvPr id="11" name="Text 9"/>
          <p:cNvSpPr/>
          <p:nvPr/>
        </p:nvSpPr>
        <p:spPr>
          <a:xfrm>
            <a:off x="6556248" y="3657600"/>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halen lectoren en onderzoekers het AI-Netwerk in en versterken zo de kennisfunctie.</a:t>
            </a:r>
            <a:endParaRPr lang="en-US" sz="1050" dirty="0"/>
          </a:p>
        </p:txBody>
      </p:sp>
      <p:sp>
        <p:nvSpPr>
          <p:cNvPr id="12" name="Shape 10"/>
          <p:cNvSpPr/>
          <p:nvPr/>
        </p:nvSpPr>
        <p:spPr>
          <a:xfrm>
            <a:off x="685800" y="4745736"/>
            <a:ext cx="146304" cy="146304"/>
          </a:xfrm>
          <a:prstGeom prst="diamond">
            <a:avLst/>
          </a:prstGeom>
          <a:solidFill>
            <a:srgbClr val="0E7490"/>
          </a:solidFill>
          <a:ln/>
        </p:spPr>
      </p:sp>
      <p:sp>
        <p:nvSpPr>
          <p:cNvPr id="13" name="Text 11"/>
          <p:cNvSpPr/>
          <p:nvPr/>
        </p:nvSpPr>
        <p:spPr>
          <a:xfrm>
            <a:off x="978408" y="4681728"/>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doen AI-ondersteund onderzoek transparant en conform de ERA Living Guidelines.</a:t>
            </a:r>
            <a:endParaRPr lang="en-US" sz="1050" dirty="0"/>
          </a:p>
        </p:txBody>
      </p:sp>
      <p:sp>
        <p:nvSpPr>
          <p:cNvPr id="14" name="Shape 12"/>
          <p:cNvSpPr/>
          <p:nvPr/>
        </p:nvSpPr>
        <p:spPr>
          <a:xfrm>
            <a:off x="6263640" y="4745736"/>
            <a:ext cx="146304" cy="146304"/>
          </a:xfrm>
          <a:prstGeom prst="diamond">
            <a:avLst/>
          </a:prstGeom>
          <a:solidFill>
            <a:srgbClr val="0E7490"/>
          </a:solidFill>
          <a:ln/>
        </p:spPr>
      </p:sp>
      <p:sp>
        <p:nvSpPr>
          <p:cNvPr id="15" name="Text 13"/>
          <p:cNvSpPr/>
          <p:nvPr/>
        </p:nvSpPr>
        <p:spPr>
          <a:xfrm>
            <a:off x="6556248" y="4681728"/>
            <a:ext cx="5074920" cy="932688"/>
          </a:xfrm>
          <a:prstGeom prst="rect">
            <a:avLst/>
          </a:prstGeom>
          <a:noFill/>
          <a:ln/>
        </p:spPr>
        <p:txBody>
          <a:bodyPr wrap="square" lIns="0" tIns="0" rIns="0" bIns="0" rtlCol="0" anchor="ctr"/>
          <a:lstStyle/>
          <a:p>
            <a:pPr indent="0" marL="0">
              <a:buNone/>
            </a:pPr>
            <a:r>
              <a:rPr lang="en-US" sz="1050" dirty="0">
                <a:solidFill>
                  <a:srgbClr val="4A5568"/>
                </a:solidFill>
                <a:latin typeface="Arial" pitchFamily="34" charset="0"/>
                <a:ea typeface="Arial" pitchFamily="34" charset="-122"/>
                <a:cs typeface="Arial" pitchFamily="34" charset="-120"/>
              </a:rPr>
              <a:t>Wij positioneren NHL Stenden als zichtbare AI-kennispartner in Noord-Nederland.</a:t>
            </a:r>
            <a:endParaRPr lang="en-US" sz="1050" dirty="0"/>
          </a:p>
        </p:txBody>
      </p:sp>
      <p:sp>
        <p:nvSpPr>
          <p:cNvPr id="16" name="Shape 14"/>
          <p:cNvSpPr/>
          <p:nvPr/>
        </p:nvSpPr>
        <p:spPr>
          <a:xfrm>
            <a:off x="685800" y="5806440"/>
            <a:ext cx="10835640" cy="685800"/>
          </a:xfrm>
          <a:prstGeom prst="roundRect">
            <a:avLst>
              <a:gd name="adj" fmla="val 9333"/>
            </a:avLst>
          </a:prstGeom>
          <a:solidFill>
            <a:srgbClr val="E4F0F4"/>
          </a:solidFill>
          <a:ln/>
        </p:spPr>
      </p:sp>
      <p:sp>
        <p:nvSpPr>
          <p:cNvPr id="17" name="Text 15"/>
          <p:cNvSpPr/>
          <p:nvPr/>
        </p:nvSpPr>
        <p:spPr>
          <a:xfrm>
            <a:off x="914400" y="5806440"/>
            <a:ext cx="868680" cy="685800"/>
          </a:xfrm>
          <a:prstGeom prst="rect">
            <a:avLst/>
          </a:prstGeom>
          <a:noFill/>
          <a:ln/>
        </p:spPr>
        <p:txBody>
          <a:bodyPr wrap="square" lIns="0" tIns="0" rIns="0" bIns="0" rtlCol="0" anchor="ctr"/>
          <a:lstStyle/>
          <a:p>
            <a:pPr indent="0" marL="0">
              <a:buNone/>
            </a:pPr>
            <a:r>
              <a:rPr lang="en-US" sz="1900" b="1" dirty="0">
                <a:solidFill>
                  <a:srgbClr val="0E7490"/>
                </a:solidFill>
                <a:latin typeface="Arial" pitchFamily="34" charset="0"/>
                <a:ea typeface="Arial" pitchFamily="34" charset="-122"/>
                <a:cs typeface="Arial" pitchFamily="34" charset="-120"/>
              </a:rPr>
              <a:t>2030</a:t>
            </a:r>
            <a:endParaRPr lang="en-US" sz="1900" dirty="0"/>
          </a:p>
        </p:txBody>
      </p:sp>
      <p:sp>
        <p:nvSpPr>
          <p:cNvPr id="18" name="Text 16"/>
          <p:cNvSpPr/>
          <p:nvPr/>
        </p:nvSpPr>
        <p:spPr>
          <a:xfrm>
            <a:off x="1828800" y="5806440"/>
            <a:ext cx="9464040" cy="685800"/>
          </a:xfrm>
          <a:prstGeom prst="rect">
            <a:avLst/>
          </a:prstGeom>
          <a:noFill/>
          <a:ln/>
        </p:spPr>
        <p:txBody>
          <a:bodyPr wrap="square" lIns="0" tIns="0" rIns="0" bIns="0" rtlCol="0" anchor="ctr"/>
          <a:lstStyle/>
          <a:p>
            <a:pPr indent="0" marL="0">
              <a:buNone/>
            </a:pPr>
            <a:r>
              <a:rPr lang="en-US" sz="1150" b="1" dirty="0">
                <a:solidFill>
                  <a:srgbClr val="0A4F63"/>
                </a:solidFill>
                <a:latin typeface="Arial" pitchFamily="34" charset="0"/>
                <a:ea typeface="Arial" pitchFamily="34" charset="-122"/>
                <a:cs typeface="Arial" pitchFamily="34" charset="-120"/>
              </a:rPr>
              <a:t>Minimaal twee lectoraten actief in het AI-Netwerk. Zichtbare rol als AI-kennispartner in de regio.</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1F5C"/>
        </a:solidFill>
      </p:bgPr>
    </p:bg>
    <p:spTree>
      <p:nvGrpSpPr>
        <p:cNvPr id="1" name=""/>
        <p:cNvGrpSpPr/>
        <p:nvPr/>
      </p:nvGrpSpPr>
      <p:grpSpPr>
        <a:xfrm>
          <a:off x="0" y="0"/>
          <a:ext cx="0" cy="0"/>
          <a:chOff x="0" y="0"/>
          <a:chExt cx="0" cy="0"/>
        </a:xfrm>
      </p:grpSpPr>
      <p:sp>
        <p:nvSpPr>
          <p:cNvPr id="2" name="Shape 0"/>
          <p:cNvSpPr/>
          <p:nvPr/>
        </p:nvSpPr>
        <p:spPr>
          <a:xfrm flipH="1">
            <a:off x="10149840" y="0"/>
            <a:ext cx="2039112" cy="1371600"/>
          </a:xfrm>
          <a:prstGeom prst="rtTriangle">
            <a:avLst/>
          </a:prstGeom>
          <a:solidFill>
            <a:srgbClr val="8C1D82"/>
          </a:solidFill>
          <a:ln/>
        </p:spPr>
      </p:sp>
      <p:sp>
        <p:nvSpPr>
          <p:cNvPr id="3" name="Shape 1"/>
          <p:cNvSpPr/>
          <p:nvPr/>
        </p:nvSpPr>
        <p:spPr>
          <a:xfrm flipH="1" flipV="1">
            <a:off x="10698480" y="960120"/>
            <a:ext cx="1490472" cy="1005840"/>
          </a:xfrm>
          <a:prstGeom prst="rtTriangle">
            <a:avLst/>
          </a:prstGeom>
          <a:solidFill>
            <a:srgbClr val="8C1D82">
              <a:alpha val="65000"/>
            </a:srgbClr>
          </a:solidFill>
          <a:ln/>
        </p:spPr>
      </p:sp>
      <p:sp>
        <p:nvSpPr>
          <p:cNvPr id="4" name="Text 2"/>
          <p:cNvSpPr/>
          <p:nvPr/>
        </p:nvSpPr>
        <p:spPr>
          <a:xfrm>
            <a:off x="685800" y="457200"/>
            <a:ext cx="7315200" cy="292608"/>
          </a:xfrm>
          <a:prstGeom prst="rect">
            <a:avLst/>
          </a:prstGeom>
          <a:noFill/>
          <a:ln/>
        </p:spPr>
        <p:txBody>
          <a:bodyPr wrap="square" lIns="0" tIns="0" rIns="0" bIns="0" rtlCol="0" anchor="ctr"/>
          <a:lstStyle/>
          <a:p>
            <a:pPr indent="0" marL="0">
              <a:buNone/>
            </a:pPr>
            <a:r>
              <a:rPr lang="en-US" sz="1100" b="1" spc="300" kern="0" dirty="0">
                <a:solidFill>
                  <a:srgbClr val="C9A8E8"/>
                </a:solidFill>
                <a:latin typeface="Arial" pitchFamily="34" charset="0"/>
                <a:ea typeface="Arial" pitchFamily="34" charset="-122"/>
                <a:cs typeface="Arial" pitchFamily="34" charset="-120"/>
              </a:rPr>
              <a:t>11 · VEILIG EXPERIMENTEREN</a:t>
            </a:r>
            <a:endParaRPr lang="en-US" sz="1100" dirty="0"/>
          </a:p>
        </p:txBody>
      </p:sp>
      <p:sp>
        <p:nvSpPr>
          <p:cNvPr id="5" name="Text 3"/>
          <p:cNvSpPr/>
          <p:nvPr/>
        </p:nvSpPr>
        <p:spPr>
          <a:xfrm>
            <a:off x="685800" y="749808"/>
            <a:ext cx="1005840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Veilig, transparant en onder toezicht</a:t>
            </a:r>
            <a:endParaRPr lang="en-US" sz="3200" dirty="0"/>
          </a:p>
        </p:txBody>
      </p:sp>
      <p:sp>
        <p:nvSpPr>
          <p:cNvPr id="6" name="Text 4"/>
          <p:cNvSpPr/>
          <p:nvPr/>
        </p:nvSpPr>
        <p:spPr>
          <a:xfrm>
            <a:off x="685800" y="1463040"/>
            <a:ext cx="9601200" cy="365760"/>
          </a:xfrm>
          <a:prstGeom prst="rect">
            <a:avLst/>
          </a:prstGeom>
          <a:noFill/>
          <a:ln/>
        </p:spPr>
        <p:txBody>
          <a:bodyPr wrap="square" lIns="0" tIns="0" rIns="0" bIns="0" rtlCol="0" anchor="ctr"/>
          <a:lstStyle/>
          <a:p>
            <a:pPr indent="0" marL="0">
              <a:buNone/>
            </a:pPr>
            <a:r>
              <a:rPr lang="en-US" sz="1300" i="1" dirty="0">
                <a:solidFill>
                  <a:srgbClr val="C4D3F0"/>
                </a:solidFill>
                <a:latin typeface="Arial" pitchFamily="34" charset="0"/>
                <a:ea typeface="Arial" pitchFamily="34" charset="-122"/>
                <a:cs typeface="Arial" pitchFamily="34" charset="-120"/>
              </a:rPr>
              <a:t>Wij proberen AI bewust uit, binnen georganiseerde experimenteerruimte en onder zes vaste waarborgen.</a:t>
            </a:r>
            <a:endParaRPr lang="en-US" sz="1300" dirty="0"/>
          </a:p>
        </p:txBody>
      </p:sp>
      <p:sp>
        <p:nvSpPr>
          <p:cNvPr id="7" name="Shape 5"/>
          <p:cNvSpPr/>
          <p:nvPr/>
        </p:nvSpPr>
        <p:spPr>
          <a:xfrm>
            <a:off x="685800" y="2011680"/>
            <a:ext cx="5349240" cy="1600200"/>
          </a:xfrm>
          <a:prstGeom prst="roundRect">
            <a:avLst>
              <a:gd name="adj" fmla="val 4571"/>
            </a:avLst>
          </a:prstGeom>
          <a:solidFill>
            <a:srgbClr val="0A2E6E"/>
          </a:solidFill>
          <a:ln w="12700">
            <a:solidFill>
              <a:srgbClr val="3C5EA8"/>
            </a:solidFill>
            <a:prstDash val="solid"/>
          </a:ln>
        </p:spPr>
      </p:sp>
      <p:sp>
        <p:nvSpPr>
          <p:cNvPr id="8" name="Text 6"/>
          <p:cNvSpPr/>
          <p:nvPr/>
        </p:nvSpPr>
        <p:spPr>
          <a:xfrm>
            <a:off x="941832" y="2194560"/>
            <a:ext cx="484632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Technische sandbox</a:t>
            </a:r>
            <a:endParaRPr lang="en-US" sz="1500" dirty="0"/>
          </a:p>
        </p:txBody>
      </p:sp>
      <p:sp>
        <p:nvSpPr>
          <p:cNvPr id="9" name="Text 7"/>
          <p:cNvSpPr/>
          <p:nvPr/>
        </p:nvSpPr>
        <p:spPr>
          <a:xfrm>
            <a:off x="941832" y="2606040"/>
            <a:ext cx="4846320" cy="914400"/>
          </a:xfrm>
          <a:prstGeom prst="rect">
            <a:avLst/>
          </a:prstGeom>
          <a:noFill/>
          <a:ln/>
        </p:spPr>
        <p:txBody>
          <a:bodyPr wrap="square" lIns="0" tIns="0" rIns="0" bIns="0" rtlCol="0" anchor="ctr"/>
          <a:lstStyle/>
          <a:p>
            <a:pPr indent="0" marL="0">
              <a:buNone/>
            </a:pPr>
            <a:r>
              <a:rPr lang="en-US" sz="1050" dirty="0">
                <a:solidFill>
                  <a:srgbClr val="C4D3F0"/>
                </a:solidFill>
                <a:latin typeface="Arial" pitchFamily="34" charset="0"/>
                <a:ea typeface="Arial" pitchFamily="34" charset="-122"/>
                <a:cs typeface="Arial" pitchFamily="34" charset="-120"/>
              </a:rPr>
              <a:t>Een afgeschermde omgeving waar AI-toepassingen worden getest op gesimuleerde of geanonimiseerde data, zonder dat echte studenten of bedrijfsprocessen in het geding zijn.</a:t>
            </a:r>
            <a:endParaRPr lang="en-US" sz="1050" dirty="0"/>
          </a:p>
        </p:txBody>
      </p:sp>
      <p:sp>
        <p:nvSpPr>
          <p:cNvPr id="10" name="Shape 8"/>
          <p:cNvSpPr/>
          <p:nvPr/>
        </p:nvSpPr>
        <p:spPr>
          <a:xfrm>
            <a:off x="6263640" y="2011680"/>
            <a:ext cx="5349240" cy="1600200"/>
          </a:xfrm>
          <a:prstGeom prst="roundRect">
            <a:avLst>
              <a:gd name="adj" fmla="val 4571"/>
            </a:avLst>
          </a:prstGeom>
          <a:solidFill>
            <a:srgbClr val="0A2E6E"/>
          </a:solidFill>
          <a:ln w="12700">
            <a:solidFill>
              <a:srgbClr val="3C5EA8"/>
            </a:solidFill>
            <a:prstDash val="solid"/>
          </a:ln>
        </p:spPr>
      </p:sp>
      <p:sp>
        <p:nvSpPr>
          <p:cNvPr id="11" name="Text 9"/>
          <p:cNvSpPr/>
          <p:nvPr/>
        </p:nvSpPr>
        <p:spPr>
          <a:xfrm>
            <a:off x="6519672" y="2194560"/>
            <a:ext cx="484632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Regulatory sandbox</a:t>
            </a:r>
            <a:endParaRPr lang="en-US" sz="1500" dirty="0"/>
          </a:p>
        </p:txBody>
      </p:sp>
      <p:sp>
        <p:nvSpPr>
          <p:cNvPr id="12" name="Text 10"/>
          <p:cNvSpPr/>
          <p:nvPr/>
        </p:nvSpPr>
        <p:spPr>
          <a:xfrm>
            <a:off x="6519672" y="2606040"/>
            <a:ext cx="4846320" cy="914400"/>
          </a:xfrm>
          <a:prstGeom prst="rect">
            <a:avLst/>
          </a:prstGeom>
          <a:noFill/>
          <a:ln/>
        </p:spPr>
        <p:txBody>
          <a:bodyPr wrap="square" lIns="0" tIns="0" rIns="0" bIns="0" rtlCol="0" anchor="ctr"/>
          <a:lstStyle/>
          <a:p>
            <a:pPr indent="0" marL="0">
              <a:buNone/>
            </a:pPr>
            <a:r>
              <a:rPr lang="en-US" sz="1050" dirty="0">
                <a:solidFill>
                  <a:srgbClr val="C4D3F0"/>
                </a:solidFill>
                <a:latin typeface="Arial" pitchFamily="34" charset="0"/>
                <a:ea typeface="Arial" pitchFamily="34" charset="-122"/>
                <a:cs typeface="Arial" pitchFamily="34" charset="-120"/>
              </a:rPr>
              <a:t>Voor hoog-risico domeinen een juridisch begeleidingstraject: toetsing aan de EU AI Act, de AVG en ons ethisch waardenkompas, voordat ingebruikname plaatsvindt.</a:t>
            </a:r>
            <a:endParaRPr lang="en-US" sz="1050" dirty="0"/>
          </a:p>
        </p:txBody>
      </p:sp>
      <p:sp>
        <p:nvSpPr>
          <p:cNvPr id="13" name="Shape 11"/>
          <p:cNvSpPr/>
          <p:nvPr/>
        </p:nvSpPr>
        <p:spPr>
          <a:xfrm>
            <a:off x="685800" y="3977640"/>
            <a:ext cx="3474720" cy="1024128"/>
          </a:xfrm>
          <a:prstGeom prst="roundRect">
            <a:avLst>
              <a:gd name="adj" fmla="val 6250"/>
            </a:avLst>
          </a:prstGeom>
          <a:solidFill>
            <a:srgbClr val="12244F"/>
          </a:solidFill>
          <a:ln w="12700">
            <a:solidFill>
              <a:srgbClr val="8C1D82"/>
            </a:solidFill>
            <a:prstDash val="solid"/>
          </a:ln>
        </p:spPr>
      </p:sp>
      <p:sp>
        <p:nvSpPr>
          <p:cNvPr id="14" name="Text 12"/>
          <p:cNvSpPr/>
          <p:nvPr/>
        </p:nvSpPr>
        <p:spPr>
          <a:xfrm>
            <a:off x="886968" y="4087368"/>
            <a:ext cx="3108960" cy="274320"/>
          </a:xfrm>
          <a:prstGeom prst="rect">
            <a:avLst/>
          </a:prstGeom>
          <a:noFill/>
          <a:ln/>
        </p:spPr>
        <p:txBody>
          <a:bodyPr wrap="square" lIns="0" tIns="0" rIns="0" bIns="0" rtlCol="0" anchor="ctr"/>
          <a:lstStyle/>
          <a:p>
            <a:pPr indent="0" marL="0">
              <a:buNone/>
            </a:pPr>
            <a:r>
              <a:rPr lang="en-US" sz="1200" b="1" dirty="0">
                <a:solidFill>
                  <a:srgbClr val="C9A8E8"/>
                </a:solidFill>
                <a:latin typeface="Arial" pitchFamily="34" charset="0"/>
                <a:ea typeface="Arial" pitchFamily="34" charset="-122"/>
                <a:cs typeface="Arial" pitchFamily="34" charset="-120"/>
              </a:rPr>
              <a:t>Privacy by design</a:t>
            </a:r>
            <a:endParaRPr lang="en-US" sz="1200" dirty="0"/>
          </a:p>
        </p:txBody>
      </p:sp>
      <p:sp>
        <p:nvSpPr>
          <p:cNvPr id="15" name="Text 13"/>
          <p:cNvSpPr/>
          <p:nvPr/>
        </p:nvSpPr>
        <p:spPr>
          <a:xfrm>
            <a:off x="886968" y="4370832"/>
            <a:ext cx="3108960" cy="566928"/>
          </a:xfrm>
          <a:prstGeom prst="rect">
            <a:avLst/>
          </a:prstGeom>
          <a:noFill/>
          <a:ln/>
        </p:spPr>
        <p:txBody>
          <a:bodyPr wrap="square" lIns="0" tIns="0" rIns="0" bIns="0" rtlCol="0" anchor="ctr"/>
          <a:lstStyle/>
          <a:p>
            <a:pPr indent="0" marL="0">
              <a:buNone/>
            </a:pPr>
            <a:r>
              <a:rPr lang="en-US" sz="950" dirty="0">
                <a:solidFill>
                  <a:srgbClr val="C4D3F0"/>
                </a:solidFill>
                <a:latin typeface="Arial" pitchFamily="34" charset="0"/>
                <a:ea typeface="Arial" pitchFamily="34" charset="-122"/>
                <a:cs typeface="Arial" pitchFamily="34" charset="-120"/>
              </a:rPr>
              <a:t>Geen echte studentdata in pilots; anonimisering als standaard.</a:t>
            </a:r>
            <a:endParaRPr lang="en-US" sz="950" dirty="0"/>
          </a:p>
        </p:txBody>
      </p:sp>
      <p:sp>
        <p:nvSpPr>
          <p:cNvPr id="16" name="Shape 14"/>
          <p:cNvSpPr/>
          <p:nvPr/>
        </p:nvSpPr>
        <p:spPr>
          <a:xfrm>
            <a:off x="4389120" y="3977640"/>
            <a:ext cx="3474720" cy="1024128"/>
          </a:xfrm>
          <a:prstGeom prst="roundRect">
            <a:avLst>
              <a:gd name="adj" fmla="val 6250"/>
            </a:avLst>
          </a:prstGeom>
          <a:solidFill>
            <a:srgbClr val="12244F"/>
          </a:solidFill>
          <a:ln w="12700">
            <a:solidFill>
              <a:srgbClr val="8C1D82"/>
            </a:solidFill>
            <a:prstDash val="solid"/>
          </a:ln>
        </p:spPr>
      </p:sp>
      <p:sp>
        <p:nvSpPr>
          <p:cNvPr id="17" name="Text 15"/>
          <p:cNvSpPr/>
          <p:nvPr/>
        </p:nvSpPr>
        <p:spPr>
          <a:xfrm>
            <a:off x="4590288" y="4087368"/>
            <a:ext cx="3108960" cy="274320"/>
          </a:xfrm>
          <a:prstGeom prst="rect">
            <a:avLst/>
          </a:prstGeom>
          <a:noFill/>
          <a:ln/>
        </p:spPr>
        <p:txBody>
          <a:bodyPr wrap="square" lIns="0" tIns="0" rIns="0" bIns="0" rtlCol="0" anchor="ctr"/>
          <a:lstStyle/>
          <a:p>
            <a:pPr indent="0" marL="0">
              <a:buNone/>
            </a:pPr>
            <a:r>
              <a:rPr lang="en-US" sz="1200" b="1" dirty="0">
                <a:solidFill>
                  <a:srgbClr val="C9A8E8"/>
                </a:solidFill>
                <a:latin typeface="Arial" pitchFamily="34" charset="0"/>
                <a:ea typeface="Arial" pitchFamily="34" charset="-122"/>
                <a:cs typeface="Arial" pitchFamily="34" charset="-120"/>
              </a:rPr>
              <a:t>Menselijk toezicht</a:t>
            </a:r>
            <a:endParaRPr lang="en-US" sz="1200" dirty="0"/>
          </a:p>
        </p:txBody>
      </p:sp>
      <p:sp>
        <p:nvSpPr>
          <p:cNvPr id="18" name="Text 16"/>
          <p:cNvSpPr/>
          <p:nvPr/>
        </p:nvSpPr>
        <p:spPr>
          <a:xfrm>
            <a:off x="4590288" y="4370832"/>
            <a:ext cx="3108960" cy="566928"/>
          </a:xfrm>
          <a:prstGeom prst="rect">
            <a:avLst/>
          </a:prstGeom>
          <a:noFill/>
          <a:ln/>
        </p:spPr>
        <p:txBody>
          <a:bodyPr wrap="square" lIns="0" tIns="0" rIns="0" bIns="0" rtlCol="0" anchor="ctr"/>
          <a:lstStyle/>
          <a:p>
            <a:pPr indent="0" marL="0">
              <a:buNone/>
            </a:pPr>
            <a:r>
              <a:rPr lang="en-US" sz="950" dirty="0">
                <a:solidFill>
                  <a:srgbClr val="C4D3F0"/>
                </a:solidFill>
                <a:latin typeface="Arial" pitchFamily="34" charset="0"/>
                <a:ea typeface="Arial" pitchFamily="34" charset="-122"/>
                <a:cs typeface="Arial" pitchFamily="34" charset="-120"/>
              </a:rPr>
              <a:t>Geen autonome besluiten over studenten; elke output heeft een menselijk vangnet.</a:t>
            </a:r>
            <a:endParaRPr lang="en-US" sz="950" dirty="0"/>
          </a:p>
        </p:txBody>
      </p:sp>
      <p:sp>
        <p:nvSpPr>
          <p:cNvPr id="19" name="Shape 17"/>
          <p:cNvSpPr/>
          <p:nvPr/>
        </p:nvSpPr>
        <p:spPr>
          <a:xfrm>
            <a:off x="8092440" y="3977640"/>
            <a:ext cx="3474720" cy="1024128"/>
          </a:xfrm>
          <a:prstGeom prst="roundRect">
            <a:avLst>
              <a:gd name="adj" fmla="val 6250"/>
            </a:avLst>
          </a:prstGeom>
          <a:solidFill>
            <a:srgbClr val="12244F"/>
          </a:solidFill>
          <a:ln w="12700">
            <a:solidFill>
              <a:srgbClr val="8C1D82"/>
            </a:solidFill>
            <a:prstDash val="solid"/>
          </a:ln>
        </p:spPr>
      </p:sp>
      <p:sp>
        <p:nvSpPr>
          <p:cNvPr id="20" name="Text 18"/>
          <p:cNvSpPr/>
          <p:nvPr/>
        </p:nvSpPr>
        <p:spPr>
          <a:xfrm>
            <a:off x="8293608" y="4087368"/>
            <a:ext cx="3108960" cy="274320"/>
          </a:xfrm>
          <a:prstGeom prst="rect">
            <a:avLst/>
          </a:prstGeom>
          <a:noFill/>
          <a:ln/>
        </p:spPr>
        <p:txBody>
          <a:bodyPr wrap="square" lIns="0" tIns="0" rIns="0" bIns="0" rtlCol="0" anchor="ctr"/>
          <a:lstStyle/>
          <a:p>
            <a:pPr indent="0" marL="0">
              <a:buNone/>
            </a:pPr>
            <a:r>
              <a:rPr lang="en-US" sz="1200" b="1" dirty="0">
                <a:solidFill>
                  <a:srgbClr val="C9A8E8"/>
                </a:solidFill>
                <a:latin typeface="Arial" pitchFamily="34" charset="0"/>
                <a:ea typeface="Arial" pitchFamily="34" charset="-122"/>
                <a:cs typeface="Arial" pitchFamily="34" charset="-120"/>
              </a:rPr>
              <a:t>Transparantie</a:t>
            </a:r>
            <a:endParaRPr lang="en-US" sz="1200" dirty="0"/>
          </a:p>
        </p:txBody>
      </p:sp>
      <p:sp>
        <p:nvSpPr>
          <p:cNvPr id="21" name="Text 19"/>
          <p:cNvSpPr/>
          <p:nvPr/>
        </p:nvSpPr>
        <p:spPr>
          <a:xfrm>
            <a:off x="8293608" y="4370832"/>
            <a:ext cx="3108960" cy="566928"/>
          </a:xfrm>
          <a:prstGeom prst="rect">
            <a:avLst/>
          </a:prstGeom>
          <a:noFill/>
          <a:ln/>
        </p:spPr>
        <p:txBody>
          <a:bodyPr wrap="square" lIns="0" tIns="0" rIns="0" bIns="0" rtlCol="0" anchor="ctr"/>
          <a:lstStyle/>
          <a:p>
            <a:pPr indent="0" marL="0">
              <a:buNone/>
            </a:pPr>
            <a:r>
              <a:rPr lang="en-US" sz="950" dirty="0">
                <a:solidFill>
                  <a:srgbClr val="C4D3F0"/>
                </a:solidFill>
                <a:latin typeface="Arial" pitchFamily="34" charset="0"/>
                <a:ea typeface="Arial" pitchFamily="34" charset="-122"/>
                <a:cs typeface="Arial" pitchFamily="34" charset="-120"/>
              </a:rPr>
              <a:t>Betrokkenen weten wanneer AI een rol speelt. Geen verborgen algoritmen.</a:t>
            </a:r>
            <a:endParaRPr lang="en-US" sz="950" dirty="0"/>
          </a:p>
        </p:txBody>
      </p:sp>
      <p:sp>
        <p:nvSpPr>
          <p:cNvPr id="22" name="Shape 20"/>
          <p:cNvSpPr/>
          <p:nvPr/>
        </p:nvSpPr>
        <p:spPr>
          <a:xfrm>
            <a:off x="685800" y="5166360"/>
            <a:ext cx="3474720" cy="1024128"/>
          </a:xfrm>
          <a:prstGeom prst="roundRect">
            <a:avLst>
              <a:gd name="adj" fmla="val 6250"/>
            </a:avLst>
          </a:prstGeom>
          <a:solidFill>
            <a:srgbClr val="12244F"/>
          </a:solidFill>
          <a:ln w="12700">
            <a:solidFill>
              <a:srgbClr val="8C1D82"/>
            </a:solidFill>
            <a:prstDash val="solid"/>
          </a:ln>
        </p:spPr>
      </p:sp>
      <p:sp>
        <p:nvSpPr>
          <p:cNvPr id="23" name="Text 21"/>
          <p:cNvSpPr/>
          <p:nvPr/>
        </p:nvSpPr>
        <p:spPr>
          <a:xfrm>
            <a:off x="886968" y="5276088"/>
            <a:ext cx="3108960" cy="274320"/>
          </a:xfrm>
          <a:prstGeom prst="rect">
            <a:avLst/>
          </a:prstGeom>
          <a:noFill/>
          <a:ln/>
        </p:spPr>
        <p:txBody>
          <a:bodyPr wrap="square" lIns="0" tIns="0" rIns="0" bIns="0" rtlCol="0" anchor="ctr"/>
          <a:lstStyle/>
          <a:p>
            <a:pPr indent="0" marL="0">
              <a:buNone/>
            </a:pPr>
            <a:r>
              <a:rPr lang="en-US" sz="1200" b="1" dirty="0">
                <a:solidFill>
                  <a:srgbClr val="C9A8E8"/>
                </a:solidFill>
                <a:latin typeface="Arial" pitchFamily="34" charset="0"/>
                <a:ea typeface="Arial" pitchFamily="34" charset="-122"/>
                <a:cs typeface="Arial" pitchFamily="34" charset="-120"/>
              </a:rPr>
              <a:t>Documentatie</a:t>
            </a:r>
            <a:endParaRPr lang="en-US" sz="1200" dirty="0"/>
          </a:p>
        </p:txBody>
      </p:sp>
      <p:sp>
        <p:nvSpPr>
          <p:cNvPr id="24" name="Text 22"/>
          <p:cNvSpPr/>
          <p:nvPr/>
        </p:nvSpPr>
        <p:spPr>
          <a:xfrm>
            <a:off x="886968" y="5559552"/>
            <a:ext cx="3108960" cy="566928"/>
          </a:xfrm>
          <a:prstGeom prst="rect">
            <a:avLst/>
          </a:prstGeom>
          <a:noFill/>
          <a:ln/>
        </p:spPr>
        <p:txBody>
          <a:bodyPr wrap="square" lIns="0" tIns="0" rIns="0" bIns="0" rtlCol="0" anchor="ctr"/>
          <a:lstStyle/>
          <a:p>
            <a:pPr indent="0" marL="0">
              <a:buNone/>
            </a:pPr>
            <a:r>
              <a:rPr lang="en-US" sz="950" dirty="0">
                <a:solidFill>
                  <a:srgbClr val="C4D3F0"/>
                </a:solidFill>
                <a:latin typeface="Arial" pitchFamily="34" charset="0"/>
                <a:ea typeface="Arial" pitchFamily="34" charset="-122"/>
                <a:cs typeface="Arial" pitchFamily="34" charset="-120"/>
              </a:rPr>
              <a:t>Elke pilot gedocumenteerd; centrale kennisbank van resultaten.</a:t>
            </a:r>
            <a:endParaRPr lang="en-US" sz="950" dirty="0"/>
          </a:p>
        </p:txBody>
      </p:sp>
      <p:sp>
        <p:nvSpPr>
          <p:cNvPr id="25" name="Shape 23"/>
          <p:cNvSpPr/>
          <p:nvPr/>
        </p:nvSpPr>
        <p:spPr>
          <a:xfrm>
            <a:off x="4389120" y="5166360"/>
            <a:ext cx="3474720" cy="1024128"/>
          </a:xfrm>
          <a:prstGeom prst="roundRect">
            <a:avLst>
              <a:gd name="adj" fmla="val 6250"/>
            </a:avLst>
          </a:prstGeom>
          <a:solidFill>
            <a:srgbClr val="12244F"/>
          </a:solidFill>
          <a:ln w="12700">
            <a:solidFill>
              <a:srgbClr val="8C1D82"/>
            </a:solidFill>
            <a:prstDash val="solid"/>
          </a:ln>
        </p:spPr>
      </p:sp>
      <p:sp>
        <p:nvSpPr>
          <p:cNvPr id="26" name="Text 24"/>
          <p:cNvSpPr/>
          <p:nvPr/>
        </p:nvSpPr>
        <p:spPr>
          <a:xfrm>
            <a:off x="4590288" y="5276088"/>
            <a:ext cx="3108960" cy="274320"/>
          </a:xfrm>
          <a:prstGeom prst="rect">
            <a:avLst/>
          </a:prstGeom>
          <a:noFill/>
          <a:ln/>
        </p:spPr>
        <p:txBody>
          <a:bodyPr wrap="square" lIns="0" tIns="0" rIns="0" bIns="0" rtlCol="0" anchor="ctr"/>
          <a:lstStyle/>
          <a:p>
            <a:pPr indent="0" marL="0">
              <a:buNone/>
            </a:pPr>
            <a:r>
              <a:rPr lang="en-US" sz="1200" b="1" dirty="0">
                <a:solidFill>
                  <a:srgbClr val="C9A8E8"/>
                </a:solidFill>
                <a:latin typeface="Arial" pitchFamily="34" charset="0"/>
                <a:ea typeface="Arial" pitchFamily="34" charset="-122"/>
                <a:cs typeface="Arial" pitchFamily="34" charset="-120"/>
              </a:rPr>
              <a:t>Stoprecht</a:t>
            </a:r>
            <a:endParaRPr lang="en-US" sz="1200" dirty="0"/>
          </a:p>
        </p:txBody>
      </p:sp>
      <p:sp>
        <p:nvSpPr>
          <p:cNvPr id="27" name="Text 25"/>
          <p:cNvSpPr/>
          <p:nvPr/>
        </p:nvSpPr>
        <p:spPr>
          <a:xfrm>
            <a:off x="4590288" y="5559552"/>
            <a:ext cx="3108960" cy="566928"/>
          </a:xfrm>
          <a:prstGeom prst="rect">
            <a:avLst/>
          </a:prstGeom>
          <a:noFill/>
          <a:ln/>
        </p:spPr>
        <p:txBody>
          <a:bodyPr wrap="square" lIns="0" tIns="0" rIns="0" bIns="0" rtlCol="0" anchor="ctr"/>
          <a:lstStyle/>
          <a:p>
            <a:pPr indent="0" marL="0">
              <a:buNone/>
            </a:pPr>
            <a:r>
              <a:rPr lang="en-US" sz="950" dirty="0">
                <a:solidFill>
                  <a:srgbClr val="C4D3F0"/>
                </a:solidFill>
                <a:latin typeface="Arial" pitchFamily="34" charset="0"/>
                <a:ea typeface="Arial" pitchFamily="34" charset="-122"/>
                <a:cs typeface="Arial" pitchFamily="34" charset="-120"/>
              </a:rPr>
              <a:t>Elke pilot heeft een exit-criterium; bij ongewenste effecten direct gestaakt.</a:t>
            </a:r>
            <a:endParaRPr lang="en-US" sz="950" dirty="0"/>
          </a:p>
        </p:txBody>
      </p:sp>
      <p:sp>
        <p:nvSpPr>
          <p:cNvPr id="28" name="Shape 26"/>
          <p:cNvSpPr/>
          <p:nvPr/>
        </p:nvSpPr>
        <p:spPr>
          <a:xfrm>
            <a:off x="8092440" y="5166360"/>
            <a:ext cx="3474720" cy="1024128"/>
          </a:xfrm>
          <a:prstGeom prst="roundRect">
            <a:avLst>
              <a:gd name="adj" fmla="val 6250"/>
            </a:avLst>
          </a:prstGeom>
          <a:solidFill>
            <a:srgbClr val="12244F"/>
          </a:solidFill>
          <a:ln w="12700">
            <a:solidFill>
              <a:srgbClr val="8C1D82"/>
            </a:solidFill>
            <a:prstDash val="solid"/>
          </a:ln>
        </p:spPr>
      </p:sp>
      <p:sp>
        <p:nvSpPr>
          <p:cNvPr id="29" name="Text 27"/>
          <p:cNvSpPr/>
          <p:nvPr/>
        </p:nvSpPr>
        <p:spPr>
          <a:xfrm>
            <a:off x="8293608" y="5276088"/>
            <a:ext cx="3108960" cy="274320"/>
          </a:xfrm>
          <a:prstGeom prst="rect">
            <a:avLst/>
          </a:prstGeom>
          <a:noFill/>
          <a:ln/>
        </p:spPr>
        <p:txBody>
          <a:bodyPr wrap="square" lIns="0" tIns="0" rIns="0" bIns="0" rtlCol="0" anchor="ctr"/>
          <a:lstStyle/>
          <a:p>
            <a:pPr indent="0" marL="0">
              <a:buNone/>
            </a:pPr>
            <a:r>
              <a:rPr lang="en-US" sz="1200" b="1" dirty="0">
                <a:solidFill>
                  <a:srgbClr val="C9A8E8"/>
                </a:solidFill>
                <a:latin typeface="Arial" pitchFamily="34" charset="0"/>
                <a:ea typeface="Arial" pitchFamily="34" charset="-122"/>
                <a:cs typeface="Arial" pitchFamily="34" charset="-120"/>
              </a:rPr>
              <a:t>Digitale autonomie</a:t>
            </a:r>
            <a:endParaRPr lang="en-US" sz="1200" dirty="0"/>
          </a:p>
        </p:txBody>
      </p:sp>
      <p:sp>
        <p:nvSpPr>
          <p:cNvPr id="30" name="Text 28"/>
          <p:cNvSpPr/>
          <p:nvPr/>
        </p:nvSpPr>
        <p:spPr>
          <a:xfrm>
            <a:off x="8293608" y="5559552"/>
            <a:ext cx="3108960" cy="566928"/>
          </a:xfrm>
          <a:prstGeom prst="rect">
            <a:avLst/>
          </a:prstGeom>
          <a:noFill/>
          <a:ln/>
        </p:spPr>
        <p:txBody>
          <a:bodyPr wrap="square" lIns="0" tIns="0" rIns="0" bIns="0" rtlCol="0" anchor="ctr"/>
          <a:lstStyle/>
          <a:p>
            <a:pPr indent="0" marL="0">
              <a:buNone/>
            </a:pPr>
            <a:r>
              <a:rPr lang="en-US" sz="950" dirty="0">
                <a:solidFill>
                  <a:srgbClr val="C4D3F0"/>
                </a:solidFill>
                <a:latin typeface="Arial" pitchFamily="34" charset="0"/>
                <a:ea typeface="Arial" pitchFamily="34" charset="-122"/>
                <a:cs typeface="Arial" pitchFamily="34" charset="-120"/>
              </a:rPr>
              <a:t>Data bij voorkeur onder Europese jurisdictie; cloudkeuzes getoetst.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7315200" cy="292608"/>
          </a:xfrm>
          <a:prstGeom prst="rect">
            <a:avLst/>
          </a:prstGeom>
          <a:noFill/>
          <a:ln/>
        </p:spPr>
        <p:txBody>
          <a:bodyPr wrap="square" lIns="0" tIns="0" rIns="0" bIns="0" rtlCol="0" anchor="ctr"/>
          <a:lstStyle/>
          <a:p>
            <a:pPr indent="0" marL="0">
              <a:buNone/>
            </a:pPr>
            <a:r>
              <a:rPr lang="en-US" sz="1100" b="1" spc="300" kern="0" dirty="0">
                <a:solidFill>
                  <a:srgbClr val="8C1D82"/>
                </a:solidFill>
                <a:latin typeface="Arial" pitchFamily="34" charset="0"/>
                <a:ea typeface="Arial" pitchFamily="34" charset="-122"/>
                <a:cs typeface="Arial" pitchFamily="34" charset="-120"/>
              </a:rPr>
              <a:t>12 · GOVERNANCE EN REALISATIE</a:t>
            </a:r>
            <a:endParaRPr lang="en-US" sz="1100" dirty="0"/>
          </a:p>
        </p:txBody>
      </p:sp>
      <p:sp>
        <p:nvSpPr>
          <p:cNvPr id="3" name="Text 1"/>
          <p:cNvSpPr/>
          <p:nvPr/>
        </p:nvSpPr>
        <p:spPr>
          <a:xfrm>
            <a:off x="685800" y="749808"/>
            <a:ext cx="10058400" cy="685800"/>
          </a:xfrm>
          <a:prstGeom prst="rect">
            <a:avLst/>
          </a:prstGeom>
          <a:noFill/>
          <a:ln/>
        </p:spPr>
        <p:txBody>
          <a:bodyPr wrap="square" lIns="0" tIns="0" rIns="0" bIns="0" rtlCol="0" anchor="ctr"/>
          <a:lstStyle/>
          <a:p>
            <a:pPr indent="0" marL="0">
              <a:buNone/>
            </a:pPr>
            <a:r>
              <a:rPr lang="en-US" sz="3400" b="1" dirty="0">
                <a:solidFill>
                  <a:srgbClr val="003DA5"/>
                </a:solidFill>
                <a:latin typeface="Arial" pitchFamily="34" charset="0"/>
                <a:ea typeface="Arial" pitchFamily="34" charset="-122"/>
                <a:cs typeface="Arial" pitchFamily="34" charset="-120"/>
              </a:rPr>
              <a:t>Eén programma, zeven lijnen</a:t>
            </a:r>
            <a:endParaRPr lang="en-US" sz="3400" dirty="0"/>
          </a:p>
        </p:txBody>
      </p:sp>
      <p:sp>
        <p:nvSpPr>
          <p:cNvPr id="4" name="Text 2"/>
          <p:cNvSpPr/>
          <p:nvPr/>
        </p:nvSpPr>
        <p:spPr>
          <a:xfrm>
            <a:off x="685800" y="1554480"/>
            <a:ext cx="10698480" cy="868680"/>
          </a:xfrm>
          <a:prstGeom prst="rect">
            <a:avLst/>
          </a:prstGeom>
          <a:noFill/>
          <a:ln/>
        </p:spPr>
        <p:txBody>
          <a:bodyPr wrap="square" lIns="0" tIns="0" rIns="0" bIns="0" rtlCol="0" anchor="ctr"/>
          <a:lstStyle/>
          <a:p>
            <a:pPr indent="0" marL="0">
              <a:buNone/>
            </a:pPr>
            <a:r>
              <a:rPr lang="en-US" sz="1250" dirty="0">
                <a:solidFill>
                  <a:srgbClr val="4A5568"/>
                </a:solidFill>
                <a:latin typeface="Arial" pitchFamily="34" charset="0"/>
                <a:ea typeface="Arial" pitchFamily="34" charset="-122"/>
                <a:cs typeface="Arial" pitchFamily="34" charset="-120"/>
              </a:rPr>
              <a:t>Wij richten binnen het Transitieprogramma Digitalisering het Programma AI in als uitvoeringsvorm van deze koers. Het AI-Netwerk blijft het verbindings- en uitvoeringsinstrument; het programma voegt opdracht, financiering en verantwoording toe. De inrichting staat in het Programmaplan AI.</a:t>
            </a:r>
            <a:endParaRPr lang="en-US" sz="1250" dirty="0"/>
          </a:p>
        </p:txBody>
      </p:sp>
      <p:sp>
        <p:nvSpPr>
          <p:cNvPr id="5" name="Shape 3"/>
          <p:cNvSpPr/>
          <p:nvPr/>
        </p:nvSpPr>
        <p:spPr>
          <a:xfrm>
            <a:off x="1737360" y="2697480"/>
            <a:ext cx="8686800" cy="594360"/>
          </a:xfrm>
          <a:prstGeom prst="roundRect">
            <a:avLst>
              <a:gd name="adj" fmla="val 10769"/>
            </a:avLst>
          </a:prstGeom>
          <a:solidFill>
            <a:srgbClr val="003DA5"/>
          </a:solidFill>
          <a:ln/>
        </p:spPr>
      </p:sp>
      <p:sp>
        <p:nvSpPr>
          <p:cNvPr id="6" name="Text 4"/>
          <p:cNvSpPr/>
          <p:nvPr/>
        </p:nvSpPr>
        <p:spPr>
          <a:xfrm>
            <a:off x="1737360" y="2697480"/>
            <a:ext cx="8686800" cy="594360"/>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Programma AI  ·  Stuurgroep Transitieprogramma als opdrachtgever</a:t>
            </a:r>
            <a:endParaRPr lang="en-US" sz="1350" dirty="0"/>
          </a:p>
        </p:txBody>
      </p:sp>
      <p:sp>
        <p:nvSpPr>
          <p:cNvPr id="7" name="Shape 5"/>
          <p:cNvSpPr/>
          <p:nvPr/>
        </p:nvSpPr>
        <p:spPr>
          <a:xfrm>
            <a:off x="2340864" y="3291840"/>
            <a:ext cx="0" cy="320040"/>
          </a:xfrm>
          <a:prstGeom prst="line">
            <a:avLst/>
          </a:prstGeom>
          <a:noFill/>
          <a:ln w="19050">
            <a:solidFill>
              <a:srgbClr val="B9C2D0"/>
            </a:solidFill>
            <a:prstDash val="solid"/>
          </a:ln>
        </p:spPr>
      </p:sp>
      <p:sp>
        <p:nvSpPr>
          <p:cNvPr id="8" name="Shape 6"/>
          <p:cNvSpPr/>
          <p:nvPr/>
        </p:nvSpPr>
        <p:spPr>
          <a:xfrm>
            <a:off x="1737360" y="3611880"/>
            <a:ext cx="1207008" cy="868680"/>
          </a:xfrm>
          <a:prstGeom prst="roundRect">
            <a:avLst>
              <a:gd name="adj" fmla="val 6316"/>
            </a:avLst>
          </a:prstGeom>
          <a:solidFill>
            <a:srgbClr val="1E3A8A"/>
          </a:solidFill>
          <a:ln/>
        </p:spPr>
      </p:sp>
      <p:sp>
        <p:nvSpPr>
          <p:cNvPr id="9" name="Text 7"/>
          <p:cNvSpPr/>
          <p:nvPr/>
        </p:nvSpPr>
        <p:spPr>
          <a:xfrm>
            <a:off x="1737360" y="3611880"/>
            <a:ext cx="1207008"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AI &amp;</a:t>
            </a:r>
            <a:endParaRPr lang="en-US" sz="950" dirty="0"/>
          </a:p>
          <a:p>
            <a:pPr algn="ctr" indent="0" marL="0">
              <a:buNone/>
            </a:pPr>
            <a:r>
              <a:rPr lang="en-US" sz="950" b="1" dirty="0">
                <a:solidFill>
                  <a:srgbClr val="FFFFFF"/>
                </a:solidFill>
                <a:latin typeface="Arial" pitchFamily="34" charset="0"/>
                <a:ea typeface="Arial" pitchFamily="34" charset="-122"/>
                <a:cs typeface="Arial" pitchFamily="34" charset="-120"/>
              </a:rPr>
              <a:t>Leren</a:t>
            </a:r>
            <a:endParaRPr lang="en-US" sz="950" dirty="0"/>
          </a:p>
        </p:txBody>
      </p:sp>
      <p:sp>
        <p:nvSpPr>
          <p:cNvPr id="10" name="Shape 8"/>
          <p:cNvSpPr/>
          <p:nvPr/>
        </p:nvSpPr>
        <p:spPr>
          <a:xfrm>
            <a:off x="3822192" y="3291840"/>
            <a:ext cx="0" cy="320040"/>
          </a:xfrm>
          <a:prstGeom prst="line">
            <a:avLst/>
          </a:prstGeom>
          <a:noFill/>
          <a:ln w="19050">
            <a:solidFill>
              <a:srgbClr val="B9C2D0"/>
            </a:solidFill>
            <a:prstDash val="solid"/>
          </a:ln>
        </p:spPr>
      </p:sp>
      <p:sp>
        <p:nvSpPr>
          <p:cNvPr id="11" name="Shape 9"/>
          <p:cNvSpPr/>
          <p:nvPr/>
        </p:nvSpPr>
        <p:spPr>
          <a:xfrm>
            <a:off x="3218688" y="3611880"/>
            <a:ext cx="1207008" cy="868680"/>
          </a:xfrm>
          <a:prstGeom prst="roundRect">
            <a:avLst>
              <a:gd name="adj" fmla="val 6316"/>
            </a:avLst>
          </a:prstGeom>
          <a:solidFill>
            <a:srgbClr val="0F766E"/>
          </a:solidFill>
          <a:ln/>
        </p:spPr>
      </p:sp>
      <p:sp>
        <p:nvSpPr>
          <p:cNvPr id="12" name="Text 10"/>
          <p:cNvSpPr/>
          <p:nvPr/>
        </p:nvSpPr>
        <p:spPr>
          <a:xfrm>
            <a:off x="3218688" y="3611880"/>
            <a:ext cx="1207008"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AI &amp;</a:t>
            </a:r>
            <a:endParaRPr lang="en-US" sz="950" dirty="0"/>
          </a:p>
          <a:p>
            <a:pPr algn="ctr" indent="0" marL="0">
              <a:buNone/>
            </a:pPr>
            <a:r>
              <a:rPr lang="en-US" sz="950" b="1" dirty="0">
                <a:solidFill>
                  <a:srgbClr val="FFFFFF"/>
                </a:solidFill>
                <a:latin typeface="Arial" pitchFamily="34" charset="0"/>
                <a:ea typeface="Arial" pitchFamily="34" charset="-122"/>
                <a:cs typeface="Arial" pitchFamily="34" charset="-120"/>
              </a:rPr>
              <a:t>Werken</a:t>
            </a:r>
            <a:endParaRPr lang="en-US" sz="950" dirty="0"/>
          </a:p>
        </p:txBody>
      </p:sp>
      <p:sp>
        <p:nvSpPr>
          <p:cNvPr id="13" name="Shape 11"/>
          <p:cNvSpPr/>
          <p:nvPr/>
        </p:nvSpPr>
        <p:spPr>
          <a:xfrm>
            <a:off x="5303520" y="3291840"/>
            <a:ext cx="0" cy="320040"/>
          </a:xfrm>
          <a:prstGeom prst="line">
            <a:avLst/>
          </a:prstGeom>
          <a:noFill/>
          <a:ln w="19050">
            <a:solidFill>
              <a:srgbClr val="B9C2D0"/>
            </a:solidFill>
            <a:prstDash val="solid"/>
          </a:ln>
        </p:spPr>
      </p:sp>
      <p:sp>
        <p:nvSpPr>
          <p:cNvPr id="14" name="Shape 12"/>
          <p:cNvSpPr/>
          <p:nvPr/>
        </p:nvSpPr>
        <p:spPr>
          <a:xfrm>
            <a:off x="4700016" y="3611880"/>
            <a:ext cx="1207008" cy="868680"/>
          </a:xfrm>
          <a:prstGeom prst="roundRect">
            <a:avLst>
              <a:gd name="adj" fmla="val 6316"/>
            </a:avLst>
          </a:prstGeom>
          <a:solidFill>
            <a:srgbClr val="E91E8C"/>
          </a:solidFill>
          <a:ln/>
        </p:spPr>
      </p:sp>
      <p:sp>
        <p:nvSpPr>
          <p:cNvPr id="15" name="Text 13"/>
          <p:cNvSpPr/>
          <p:nvPr/>
        </p:nvSpPr>
        <p:spPr>
          <a:xfrm>
            <a:off x="4700016" y="3611880"/>
            <a:ext cx="1207008"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AI &amp;</a:t>
            </a:r>
            <a:endParaRPr lang="en-US" sz="950" dirty="0"/>
          </a:p>
          <a:p>
            <a:pPr algn="ctr" indent="0" marL="0">
              <a:buNone/>
            </a:pPr>
            <a:r>
              <a:rPr lang="en-US" sz="950" b="1" dirty="0">
                <a:solidFill>
                  <a:srgbClr val="FFFFFF"/>
                </a:solidFill>
                <a:latin typeface="Arial" pitchFamily="34" charset="0"/>
                <a:ea typeface="Arial" pitchFamily="34" charset="-122"/>
                <a:cs typeface="Arial" pitchFamily="34" charset="-120"/>
              </a:rPr>
              <a:t>Verantwoordelijkheid</a:t>
            </a:r>
            <a:endParaRPr lang="en-US" sz="950" dirty="0"/>
          </a:p>
        </p:txBody>
      </p:sp>
      <p:sp>
        <p:nvSpPr>
          <p:cNvPr id="16" name="Shape 14"/>
          <p:cNvSpPr/>
          <p:nvPr/>
        </p:nvSpPr>
        <p:spPr>
          <a:xfrm>
            <a:off x="6784848" y="3291840"/>
            <a:ext cx="0" cy="320040"/>
          </a:xfrm>
          <a:prstGeom prst="line">
            <a:avLst/>
          </a:prstGeom>
          <a:noFill/>
          <a:ln w="19050">
            <a:solidFill>
              <a:srgbClr val="B9C2D0"/>
            </a:solidFill>
            <a:prstDash val="solid"/>
          </a:ln>
        </p:spPr>
      </p:sp>
      <p:sp>
        <p:nvSpPr>
          <p:cNvPr id="17" name="Shape 15"/>
          <p:cNvSpPr/>
          <p:nvPr/>
        </p:nvSpPr>
        <p:spPr>
          <a:xfrm>
            <a:off x="6181344" y="3611880"/>
            <a:ext cx="1207008" cy="868680"/>
          </a:xfrm>
          <a:prstGeom prst="roundRect">
            <a:avLst>
              <a:gd name="adj" fmla="val 6316"/>
            </a:avLst>
          </a:prstGeom>
          <a:solidFill>
            <a:srgbClr val="7C3AED"/>
          </a:solidFill>
          <a:ln/>
        </p:spPr>
      </p:sp>
      <p:sp>
        <p:nvSpPr>
          <p:cNvPr id="18" name="Text 16"/>
          <p:cNvSpPr/>
          <p:nvPr/>
        </p:nvSpPr>
        <p:spPr>
          <a:xfrm>
            <a:off x="6181344" y="3611880"/>
            <a:ext cx="1207008"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AI &amp;</a:t>
            </a:r>
            <a:endParaRPr lang="en-US" sz="950" dirty="0"/>
          </a:p>
          <a:p>
            <a:pPr algn="ctr" indent="0" marL="0">
              <a:buNone/>
            </a:pPr>
            <a:r>
              <a:rPr lang="en-US" sz="950" b="1" dirty="0">
                <a:solidFill>
                  <a:srgbClr val="FFFFFF"/>
                </a:solidFill>
                <a:latin typeface="Arial" pitchFamily="34" charset="0"/>
                <a:ea typeface="Arial" pitchFamily="34" charset="-122"/>
                <a:cs typeface="Arial" pitchFamily="34" charset="-120"/>
              </a:rPr>
              <a:t>Geletterdheid</a:t>
            </a:r>
            <a:endParaRPr lang="en-US" sz="950" dirty="0"/>
          </a:p>
        </p:txBody>
      </p:sp>
      <p:sp>
        <p:nvSpPr>
          <p:cNvPr id="19" name="Shape 17"/>
          <p:cNvSpPr/>
          <p:nvPr/>
        </p:nvSpPr>
        <p:spPr>
          <a:xfrm>
            <a:off x="8266176" y="3291840"/>
            <a:ext cx="0" cy="320040"/>
          </a:xfrm>
          <a:prstGeom prst="line">
            <a:avLst/>
          </a:prstGeom>
          <a:noFill/>
          <a:ln w="19050">
            <a:solidFill>
              <a:srgbClr val="B9C2D0"/>
            </a:solidFill>
            <a:prstDash val="solid"/>
          </a:ln>
        </p:spPr>
      </p:sp>
      <p:sp>
        <p:nvSpPr>
          <p:cNvPr id="20" name="Shape 18"/>
          <p:cNvSpPr/>
          <p:nvPr/>
        </p:nvSpPr>
        <p:spPr>
          <a:xfrm>
            <a:off x="7662672" y="3611880"/>
            <a:ext cx="1207008" cy="868680"/>
          </a:xfrm>
          <a:prstGeom prst="roundRect">
            <a:avLst>
              <a:gd name="adj" fmla="val 6316"/>
            </a:avLst>
          </a:prstGeom>
          <a:solidFill>
            <a:srgbClr val="B45309"/>
          </a:solidFill>
          <a:ln/>
        </p:spPr>
      </p:sp>
      <p:sp>
        <p:nvSpPr>
          <p:cNvPr id="21" name="Text 19"/>
          <p:cNvSpPr/>
          <p:nvPr/>
        </p:nvSpPr>
        <p:spPr>
          <a:xfrm>
            <a:off x="7662672" y="3611880"/>
            <a:ext cx="1207008"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AI &amp;</a:t>
            </a:r>
            <a:endParaRPr lang="en-US" sz="950" dirty="0"/>
          </a:p>
          <a:p>
            <a:pPr algn="ctr" indent="0" marL="0">
              <a:buNone/>
            </a:pPr>
            <a:r>
              <a:rPr lang="en-US" sz="950" b="1" dirty="0">
                <a:solidFill>
                  <a:srgbClr val="FFFFFF"/>
                </a:solidFill>
                <a:latin typeface="Arial" pitchFamily="34" charset="0"/>
                <a:ea typeface="Arial" pitchFamily="34" charset="-122"/>
                <a:cs typeface="Arial" pitchFamily="34" charset="-120"/>
              </a:rPr>
              <a:t>Werkveld</a:t>
            </a:r>
            <a:endParaRPr lang="en-US" sz="950" dirty="0"/>
          </a:p>
        </p:txBody>
      </p:sp>
      <p:sp>
        <p:nvSpPr>
          <p:cNvPr id="22" name="Shape 20"/>
          <p:cNvSpPr/>
          <p:nvPr/>
        </p:nvSpPr>
        <p:spPr>
          <a:xfrm>
            <a:off x="9747504" y="3291840"/>
            <a:ext cx="0" cy="320040"/>
          </a:xfrm>
          <a:prstGeom prst="line">
            <a:avLst/>
          </a:prstGeom>
          <a:noFill/>
          <a:ln w="19050">
            <a:solidFill>
              <a:srgbClr val="B9C2D0"/>
            </a:solidFill>
            <a:prstDash val="solid"/>
          </a:ln>
        </p:spPr>
      </p:sp>
      <p:sp>
        <p:nvSpPr>
          <p:cNvPr id="23" name="Shape 21"/>
          <p:cNvSpPr/>
          <p:nvPr/>
        </p:nvSpPr>
        <p:spPr>
          <a:xfrm>
            <a:off x="9144000" y="3611880"/>
            <a:ext cx="1207008" cy="868680"/>
          </a:xfrm>
          <a:prstGeom prst="roundRect">
            <a:avLst>
              <a:gd name="adj" fmla="val 6316"/>
            </a:avLst>
          </a:prstGeom>
          <a:solidFill>
            <a:srgbClr val="0E7490"/>
          </a:solidFill>
          <a:ln/>
        </p:spPr>
      </p:sp>
      <p:sp>
        <p:nvSpPr>
          <p:cNvPr id="24" name="Text 22"/>
          <p:cNvSpPr/>
          <p:nvPr/>
        </p:nvSpPr>
        <p:spPr>
          <a:xfrm>
            <a:off x="9144000" y="3611880"/>
            <a:ext cx="1207008"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AI &amp;</a:t>
            </a:r>
            <a:endParaRPr lang="en-US" sz="950" dirty="0"/>
          </a:p>
          <a:p>
            <a:pPr algn="ctr" indent="0" marL="0">
              <a:buNone/>
            </a:pPr>
            <a:r>
              <a:rPr lang="en-US" sz="950" b="1" dirty="0">
                <a:solidFill>
                  <a:srgbClr val="FFFFFF"/>
                </a:solidFill>
                <a:latin typeface="Arial" pitchFamily="34" charset="0"/>
                <a:ea typeface="Arial" pitchFamily="34" charset="-122"/>
                <a:cs typeface="Arial" pitchFamily="34" charset="-120"/>
              </a:rPr>
              <a:t>Onderzoek</a:t>
            </a:r>
            <a:endParaRPr lang="en-US" sz="950" dirty="0"/>
          </a:p>
        </p:txBody>
      </p:sp>
      <p:sp>
        <p:nvSpPr>
          <p:cNvPr id="25" name="Shape 23"/>
          <p:cNvSpPr/>
          <p:nvPr/>
        </p:nvSpPr>
        <p:spPr>
          <a:xfrm>
            <a:off x="1737360" y="4663440"/>
            <a:ext cx="8686800" cy="548640"/>
          </a:xfrm>
          <a:prstGeom prst="roundRect">
            <a:avLst>
              <a:gd name="adj" fmla="val 11667"/>
            </a:avLst>
          </a:prstGeom>
          <a:solidFill>
            <a:srgbClr val="8C1D82"/>
          </a:solidFill>
          <a:ln/>
        </p:spPr>
      </p:sp>
      <p:sp>
        <p:nvSpPr>
          <p:cNvPr id="26" name="Text 24"/>
          <p:cNvSpPr/>
          <p:nvPr/>
        </p:nvSpPr>
        <p:spPr>
          <a:xfrm>
            <a:off x="1737360" y="4663440"/>
            <a:ext cx="868680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Dragende lijn: governance, compliance &amp; sandboxes</a:t>
            </a:r>
            <a:endParaRPr lang="en-US" sz="1250" dirty="0"/>
          </a:p>
        </p:txBody>
      </p:sp>
      <p:sp>
        <p:nvSpPr>
          <p:cNvPr id="27" name="Text 25"/>
          <p:cNvSpPr/>
          <p:nvPr/>
        </p:nvSpPr>
        <p:spPr>
          <a:xfrm>
            <a:off x="685800" y="5623560"/>
            <a:ext cx="10698480" cy="640080"/>
          </a:xfrm>
          <a:prstGeom prst="rect">
            <a:avLst/>
          </a:prstGeom>
          <a:noFill/>
          <a:ln/>
        </p:spPr>
        <p:txBody>
          <a:bodyPr wrap="square" lIns="0" tIns="0" rIns="0" bIns="0" rtlCol="0" anchor="ctr"/>
          <a:lstStyle/>
          <a:p>
            <a:pPr algn="ctr" indent="0" marL="0">
              <a:buNone/>
            </a:pPr>
            <a:r>
              <a:rPr lang="en-US" sz="1150" dirty="0">
                <a:solidFill>
                  <a:srgbClr val="4A5568"/>
                </a:solidFill>
                <a:latin typeface="Arial" pitchFamily="34" charset="0"/>
                <a:ea typeface="Arial" pitchFamily="34" charset="-122"/>
                <a:cs typeface="Arial" pitchFamily="34" charset="-120"/>
              </a:rPr>
              <a:t>Verantwoording: elk initiatief via intake, classificatie en sandbox naar uitrol. Rapportage per kwartaal aan de Stuurgroep, jaarlijks aan CvB en HMR.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7315200" cy="292608"/>
          </a:xfrm>
          <a:prstGeom prst="rect">
            <a:avLst/>
          </a:prstGeom>
          <a:noFill/>
          <a:ln/>
        </p:spPr>
        <p:txBody>
          <a:bodyPr wrap="square" lIns="0" tIns="0" rIns="0" bIns="0" rtlCol="0" anchor="ctr"/>
          <a:lstStyle/>
          <a:p>
            <a:pPr indent="0" marL="0">
              <a:buNone/>
            </a:pPr>
            <a:r>
              <a:rPr lang="en-US" sz="1100" b="1" spc="300" kern="0" dirty="0">
                <a:solidFill>
                  <a:srgbClr val="8C1D82"/>
                </a:solidFill>
                <a:latin typeface="Arial" pitchFamily="34" charset="0"/>
                <a:ea typeface="Arial" pitchFamily="34" charset="-122"/>
                <a:cs typeface="Arial" pitchFamily="34" charset="-120"/>
              </a:rPr>
              <a:t>13 · WAT BETEKENT DIT VOOR JOU</a:t>
            </a:r>
            <a:endParaRPr lang="en-US" sz="1100" dirty="0"/>
          </a:p>
        </p:txBody>
      </p:sp>
      <p:sp>
        <p:nvSpPr>
          <p:cNvPr id="3" name="Text 1"/>
          <p:cNvSpPr/>
          <p:nvPr/>
        </p:nvSpPr>
        <p:spPr>
          <a:xfrm>
            <a:off x="685800" y="749808"/>
            <a:ext cx="10058400" cy="685800"/>
          </a:xfrm>
          <a:prstGeom prst="rect">
            <a:avLst/>
          </a:prstGeom>
          <a:noFill/>
          <a:ln/>
        </p:spPr>
        <p:txBody>
          <a:bodyPr wrap="square" lIns="0" tIns="0" rIns="0" bIns="0" rtlCol="0" anchor="ctr"/>
          <a:lstStyle/>
          <a:p>
            <a:pPr indent="0" marL="0">
              <a:buNone/>
            </a:pPr>
            <a:r>
              <a:rPr lang="en-US" sz="3400" b="1" dirty="0">
                <a:solidFill>
                  <a:srgbClr val="003DA5"/>
                </a:solidFill>
                <a:latin typeface="Arial" pitchFamily="34" charset="0"/>
                <a:ea typeface="Arial" pitchFamily="34" charset="-122"/>
                <a:cs typeface="Arial" pitchFamily="34" charset="-120"/>
              </a:rPr>
              <a:t>De student is de maatstaf</a:t>
            </a:r>
            <a:endParaRPr lang="en-US" sz="3400" dirty="0"/>
          </a:p>
        </p:txBody>
      </p:sp>
      <p:sp>
        <p:nvSpPr>
          <p:cNvPr id="4" name="Shape 2"/>
          <p:cNvSpPr/>
          <p:nvPr/>
        </p:nvSpPr>
        <p:spPr>
          <a:xfrm>
            <a:off x="685800" y="1828800"/>
            <a:ext cx="3474720" cy="2834640"/>
          </a:xfrm>
          <a:prstGeom prst="roundRect">
            <a:avLst>
              <a:gd name="adj" fmla="val 2581"/>
            </a:avLst>
          </a:prstGeom>
          <a:solidFill>
            <a:srgbClr val="E8EFF8"/>
          </a:solidFill>
          <a:ln/>
        </p:spPr>
      </p:sp>
      <p:sp>
        <p:nvSpPr>
          <p:cNvPr id="5" name="Text 3"/>
          <p:cNvSpPr/>
          <p:nvPr/>
        </p:nvSpPr>
        <p:spPr>
          <a:xfrm>
            <a:off x="941832" y="2103120"/>
            <a:ext cx="2971800" cy="502920"/>
          </a:xfrm>
          <a:prstGeom prst="rect">
            <a:avLst/>
          </a:prstGeom>
          <a:noFill/>
          <a:ln/>
        </p:spPr>
        <p:txBody>
          <a:bodyPr wrap="square" lIns="0" tIns="0" rIns="0" bIns="0" rtlCol="0" anchor="ctr"/>
          <a:lstStyle/>
          <a:p>
            <a:pPr indent="0" marL="0">
              <a:buNone/>
            </a:pPr>
            <a:r>
              <a:rPr lang="en-US" sz="1200" b="1" spc="200" kern="0" dirty="0">
                <a:solidFill>
                  <a:srgbClr val="1E3A8A"/>
                </a:solidFill>
                <a:latin typeface="Arial" pitchFamily="34" charset="0"/>
                <a:ea typeface="Arial" pitchFamily="34" charset="-122"/>
                <a:cs typeface="Arial" pitchFamily="34" charset="-120"/>
              </a:rPr>
              <a:t>ALS STUDENT MERK JE</a:t>
            </a:r>
            <a:endParaRPr lang="en-US" sz="1200" dirty="0"/>
          </a:p>
        </p:txBody>
      </p:sp>
      <p:sp>
        <p:nvSpPr>
          <p:cNvPr id="6" name="Text 4"/>
          <p:cNvSpPr/>
          <p:nvPr/>
        </p:nvSpPr>
        <p:spPr>
          <a:xfrm>
            <a:off x="941832" y="2697480"/>
            <a:ext cx="2971800" cy="1783080"/>
          </a:xfrm>
          <a:prstGeom prst="rect">
            <a:avLst/>
          </a:prstGeom>
          <a:noFill/>
          <a:ln/>
        </p:spPr>
        <p:txBody>
          <a:bodyPr wrap="square" lIns="0" tIns="0" rIns="0" bIns="0" rtlCol="0" anchor="ctr"/>
          <a:lstStyle/>
          <a:p>
            <a:pPr indent="0" marL="0">
              <a:buNone/>
            </a:pPr>
            <a:r>
              <a:rPr lang="en-US" sz="1150" dirty="0">
                <a:solidFill>
                  <a:srgbClr val="1A2340"/>
                </a:solidFill>
                <a:latin typeface="Arial" pitchFamily="34" charset="0"/>
                <a:ea typeface="Arial" pitchFamily="34" charset="-122"/>
                <a:cs typeface="Arial" pitchFamily="34" charset="-120"/>
              </a:rPr>
              <a:t>Dat je opleiding een helder standpunt heeft over AI: wanneer het mag, wanneer niet, en hoe je het goed gebruikt. AI helpt je leren, niet denken voor je.</a:t>
            </a:r>
            <a:endParaRPr lang="en-US" sz="1150" dirty="0"/>
          </a:p>
        </p:txBody>
      </p:sp>
      <p:sp>
        <p:nvSpPr>
          <p:cNvPr id="7" name="Shape 5"/>
          <p:cNvSpPr/>
          <p:nvPr/>
        </p:nvSpPr>
        <p:spPr>
          <a:xfrm>
            <a:off x="4389120" y="1828800"/>
            <a:ext cx="3474720" cy="2834640"/>
          </a:xfrm>
          <a:prstGeom prst="roundRect">
            <a:avLst>
              <a:gd name="adj" fmla="val 2581"/>
            </a:avLst>
          </a:prstGeom>
          <a:solidFill>
            <a:srgbClr val="E4F3EF"/>
          </a:solidFill>
          <a:ln/>
        </p:spPr>
      </p:sp>
      <p:sp>
        <p:nvSpPr>
          <p:cNvPr id="8" name="Text 6"/>
          <p:cNvSpPr/>
          <p:nvPr/>
        </p:nvSpPr>
        <p:spPr>
          <a:xfrm>
            <a:off x="4645152" y="2103120"/>
            <a:ext cx="2971800" cy="502920"/>
          </a:xfrm>
          <a:prstGeom prst="rect">
            <a:avLst/>
          </a:prstGeom>
          <a:noFill/>
          <a:ln/>
        </p:spPr>
        <p:txBody>
          <a:bodyPr wrap="square" lIns="0" tIns="0" rIns="0" bIns="0" rtlCol="0" anchor="ctr"/>
          <a:lstStyle/>
          <a:p>
            <a:pPr indent="0" marL="0">
              <a:buNone/>
            </a:pPr>
            <a:r>
              <a:rPr lang="en-US" sz="1200" b="1" spc="200" kern="0" dirty="0">
                <a:solidFill>
                  <a:srgbClr val="0F766E"/>
                </a:solidFill>
                <a:latin typeface="Arial" pitchFamily="34" charset="0"/>
                <a:ea typeface="Arial" pitchFamily="34" charset="-122"/>
                <a:cs typeface="Arial" pitchFamily="34" charset="-120"/>
              </a:rPr>
              <a:t>ALS MEDEWERKER MERK JE</a:t>
            </a:r>
            <a:endParaRPr lang="en-US" sz="1200" dirty="0"/>
          </a:p>
        </p:txBody>
      </p:sp>
      <p:sp>
        <p:nvSpPr>
          <p:cNvPr id="9" name="Text 7"/>
          <p:cNvSpPr/>
          <p:nvPr/>
        </p:nvSpPr>
        <p:spPr>
          <a:xfrm>
            <a:off x="4645152" y="2697480"/>
            <a:ext cx="2971800" cy="1783080"/>
          </a:xfrm>
          <a:prstGeom prst="rect">
            <a:avLst/>
          </a:prstGeom>
          <a:noFill/>
          <a:ln/>
        </p:spPr>
        <p:txBody>
          <a:bodyPr wrap="square" lIns="0" tIns="0" rIns="0" bIns="0" rtlCol="0" anchor="ctr"/>
          <a:lstStyle/>
          <a:p>
            <a:pPr indent="0" marL="0">
              <a:buNone/>
            </a:pPr>
            <a:r>
              <a:rPr lang="en-US" sz="1150" dirty="0">
                <a:solidFill>
                  <a:srgbClr val="1A2340"/>
                </a:solidFill>
                <a:latin typeface="Arial" pitchFamily="34" charset="0"/>
                <a:ea typeface="Arial" pitchFamily="34" charset="-122"/>
                <a:cs typeface="Arial" pitchFamily="34" charset="-120"/>
              </a:rPr>
              <a:t>Dat herhaalbare taken lichter worden, en dat je meer tijd overhoudt voor contact, oordeel en inhoud. Niet zonder jou, maar met jou als regisseur van AI in je werk.</a:t>
            </a:r>
            <a:endParaRPr lang="en-US" sz="1150" dirty="0"/>
          </a:p>
        </p:txBody>
      </p:sp>
      <p:sp>
        <p:nvSpPr>
          <p:cNvPr id="10" name="Shape 8"/>
          <p:cNvSpPr/>
          <p:nvPr/>
        </p:nvSpPr>
        <p:spPr>
          <a:xfrm>
            <a:off x="8092440" y="1828800"/>
            <a:ext cx="3474720" cy="2834640"/>
          </a:xfrm>
          <a:prstGeom prst="roundRect">
            <a:avLst>
              <a:gd name="adj" fmla="val 2581"/>
            </a:avLst>
          </a:prstGeom>
          <a:solidFill>
            <a:srgbClr val="FCE4F0"/>
          </a:solidFill>
          <a:ln/>
        </p:spPr>
      </p:sp>
      <p:sp>
        <p:nvSpPr>
          <p:cNvPr id="11" name="Text 9"/>
          <p:cNvSpPr/>
          <p:nvPr/>
        </p:nvSpPr>
        <p:spPr>
          <a:xfrm>
            <a:off x="8348472" y="2103120"/>
            <a:ext cx="2971800" cy="502920"/>
          </a:xfrm>
          <a:prstGeom prst="rect">
            <a:avLst/>
          </a:prstGeom>
          <a:noFill/>
          <a:ln/>
        </p:spPr>
        <p:txBody>
          <a:bodyPr wrap="square" lIns="0" tIns="0" rIns="0" bIns="0" rtlCol="0" anchor="ctr"/>
          <a:lstStyle/>
          <a:p>
            <a:pPr indent="0" marL="0">
              <a:buNone/>
            </a:pPr>
            <a:r>
              <a:rPr lang="en-US" sz="1200" b="1" spc="200" kern="0" dirty="0">
                <a:solidFill>
                  <a:srgbClr val="E91E8C"/>
                </a:solidFill>
                <a:latin typeface="Arial" pitchFamily="34" charset="0"/>
                <a:ea typeface="Arial" pitchFamily="34" charset="-122"/>
                <a:cs typeface="Arial" pitchFamily="34" charset="-120"/>
              </a:rPr>
              <a:t>ALS REGIO MERK JE</a:t>
            </a:r>
            <a:endParaRPr lang="en-US" sz="1200" dirty="0"/>
          </a:p>
        </p:txBody>
      </p:sp>
      <p:sp>
        <p:nvSpPr>
          <p:cNvPr id="12" name="Text 10"/>
          <p:cNvSpPr/>
          <p:nvPr/>
        </p:nvSpPr>
        <p:spPr>
          <a:xfrm>
            <a:off x="8348472" y="2697480"/>
            <a:ext cx="2971800" cy="1783080"/>
          </a:xfrm>
          <a:prstGeom prst="rect">
            <a:avLst/>
          </a:prstGeom>
          <a:noFill/>
          <a:ln/>
        </p:spPr>
        <p:txBody>
          <a:bodyPr wrap="square" lIns="0" tIns="0" rIns="0" bIns="0" rtlCol="0" anchor="ctr"/>
          <a:lstStyle/>
          <a:p>
            <a:pPr indent="0" marL="0">
              <a:buNone/>
            </a:pPr>
            <a:r>
              <a:rPr lang="en-US" sz="1150" dirty="0">
                <a:solidFill>
                  <a:srgbClr val="1A2340"/>
                </a:solidFill>
                <a:latin typeface="Arial" pitchFamily="34" charset="0"/>
                <a:ea typeface="Arial" pitchFamily="34" charset="-122"/>
                <a:cs typeface="Arial" pitchFamily="34" charset="-120"/>
              </a:rPr>
              <a:t>Dat NHL Stenden professionals aflevert die begrijpen wanneer en waarom je AI inzet, en die bijdragen aan verantwoorde innovatie in de Noord-Nederlandse praktijk.</a:t>
            </a:r>
            <a:endParaRPr lang="en-US" sz="1150" dirty="0"/>
          </a:p>
        </p:txBody>
      </p:sp>
      <p:sp>
        <p:nvSpPr>
          <p:cNvPr id="13" name="Text 11"/>
          <p:cNvSpPr/>
          <p:nvPr/>
        </p:nvSpPr>
        <p:spPr>
          <a:xfrm>
            <a:off x="685800" y="5120640"/>
            <a:ext cx="10698480" cy="457200"/>
          </a:xfrm>
          <a:prstGeom prst="rect">
            <a:avLst/>
          </a:prstGeom>
          <a:noFill/>
          <a:ln/>
        </p:spPr>
        <p:txBody>
          <a:bodyPr wrap="square" lIns="0" tIns="0" rIns="0" bIns="0" rtlCol="0" anchor="ctr"/>
          <a:lstStyle/>
          <a:p>
            <a:pPr algn="ctr" indent="0" marL="0">
              <a:buNone/>
            </a:pPr>
            <a:r>
              <a:rPr lang="en-US" sz="1500" b="1" i="1" dirty="0">
                <a:solidFill>
                  <a:srgbClr val="003DA5"/>
                </a:solidFill>
                <a:latin typeface="Arial" pitchFamily="34" charset="0"/>
                <a:ea typeface="Arial" pitchFamily="34" charset="-122"/>
                <a:cs typeface="Arial" pitchFamily="34" charset="-120"/>
              </a:rPr>
              <a:t>Niet het aantal tools dat we invoeren telt, maar het verschil dat mensen ervaren.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7315200" cy="292608"/>
          </a:xfrm>
          <a:prstGeom prst="rect">
            <a:avLst/>
          </a:prstGeom>
          <a:noFill/>
          <a:ln/>
        </p:spPr>
        <p:txBody>
          <a:bodyPr wrap="square" lIns="0" tIns="0" rIns="0" bIns="0" rtlCol="0" anchor="ctr"/>
          <a:lstStyle/>
          <a:p>
            <a:pPr indent="0" marL="0">
              <a:buNone/>
            </a:pPr>
            <a:r>
              <a:rPr lang="en-US" sz="1100" b="1" spc="300" kern="0" dirty="0">
                <a:solidFill>
                  <a:srgbClr val="8C1D82"/>
                </a:solidFill>
                <a:latin typeface="Arial" pitchFamily="34" charset="0"/>
                <a:ea typeface="Arial" pitchFamily="34" charset="-122"/>
                <a:cs typeface="Arial" pitchFamily="34" charset="-120"/>
              </a:rPr>
              <a:t>14 · TIJDLIJN</a:t>
            </a:r>
            <a:endParaRPr lang="en-US" sz="1100" dirty="0"/>
          </a:p>
        </p:txBody>
      </p:sp>
      <p:sp>
        <p:nvSpPr>
          <p:cNvPr id="3" name="Text 1"/>
          <p:cNvSpPr/>
          <p:nvPr/>
        </p:nvSpPr>
        <p:spPr>
          <a:xfrm>
            <a:off x="685800" y="749808"/>
            <a:ext cx="10058400" cy="685800"/>
          </a:xfrm>
          <a:prstGeom prst="rect">
            <a:avLst/>
          </a:prstGeom>
          <a:noFill/>
          <a:ln/>
        </p:spPr>
        <p:txBody>
          <a:bodyPr wrap="square" lIns="0" tIns="0" rIns="0" bIns="0" rtlCol="0" anchor="ctr"/>
          <a:lstStyle/>
          <a:p>
            <a:pPr indent="0" marL="0">
              <a:buNone/>
            </a:pPr>
            <a:r>
              <a:rPr lang="en-US" sz="3400" b="1" dirty="0">
                <a:solidFill>
                  <a:srgbClr val="003DA5"/>
                </a:solidFill>
                <a:latin typeface="Arial" pitchFamily="34" charset="0"/>
                <a:ea typeface="Arial" pitchFamily="34" charset="-122"/>
                <a:cs typeface="Arial" pitchFamily="34" charset="-120"/>
              </a:rPr>
              <a:t>Drie golven, één horizon</a:t>
            </a:r>
            <a:endParaRPr lang="en-US" sz="3400" dirty="0"/>
          </a:p>
        </p:txBody>
      </p:sp>
      <p:sp>
        <p:nvSpPr>
          <p:cNvPr id="4" name="Text 2"/>
          <p:cNvSpPr/>
          <p:nvPr/>
        </p:nvSpPr>
        <p:spPr>
          <a:xfrm>
            <a:off x="685800" y="1600200"/>
            <a:ext cx="2011680" cy="457200"/>
          </a:xfrm>
          <a:prstGeom prst="rect">
            <a:avLst/>
          </a:prstGeom>
          <a:noFill/>
          <a:ln/>
        </p:spPr>
        <p:txBody>
          <a:bodyPr wrap="square" lIns="0" tIns="0" rIns="0" bIns="0" rtlCol="0" anchor="ctr"/>
          <a:lstStyle/>
          <a:p>
            <a:pPr indent="0" marL="0">
              <a:buNone/>
            </a:pPr>
            <a:r>
              <a:rPr lang="en-US" sz="2400" b="1" dirty="0">
                <a:solidFill>
                  <a:srgbClr val="003DA5"/>
                </a:solidFill>
                <a:latin typeface="Arial" pitchFamily="34" charset="0"/>
                <a:ea typeface="Arial" pitchFamily="34" charset="-122"/>
                <a:cs typeface="Arial" pitchFamily="34" charset="-120"/>
              </a:rPr>
              <a:t>2026</a:t>
            </a:r>
            <a:endParaRPr lang="en-US" sz="2400" dirty="0"/>
          </a:p>
        </p:txBody>
      </p:sp>
      <p:sp>
        <p:nvSpPr>
          <p:cNvPr id="5" name="Text 3"/>
          <p:cNvSpPr/>
          <p:nvPr/>
        </p:nvSpPr>
        <p:spPr>
          <a:xfrm>
            <a:off x="704088" y="2057400"/>
            <a:ext cx="2560320" cy="274320"/>
          </a:xfrm>
          <a:prstGeom prst="rect">
            <a:avLst/>
          </a:prstGeom>
          <a:noFill/>
          <a:ln/>
        </p:spPr>
        <p:txBody>
          <a:bodyPr wrap="square" lIns="0" tIns="0" rIns="0" bIns="0" rtlCol="0" anchor="ctr"/>
          <a:lstStyle/>
          <a:p>
            <a:pPr indent="0" marL="0">
              <a:buNone/>
            </a:pPr>
            <a:r>
              <a:rPr lang="en-US" sz="1100" b="1" spc="300" kern="0" dirty="0">
                <a:solidFill>
                  <a:srgbClr val="8C1D82"/>
                </a:solidFill>
                <a:latin typeface="Arial" pitchFamily="34" charset="0"/>
                <a:ea typeface="Arial" pitchFamily="34" charset="-122"/>
                <a:cs typeface="Arial" pitchFamily="34" charset="-120"/>
              </a:rPr>
              <a:t>FUNDEREN</a:t>
            </a:r>
            <a:endParaRPr lang="en-US" sz="1100" dirty="0"/>
          </a:p>
        </p:txBody>
      </p:sp>
      <p:sp>
        <p:nvSpPr>
          <p:cNvPr id="6" name="Shape 4"/>
          <p:cNvSpPr/>
          <p:nvPr/>
        </p:nvSpPr>
        <p:spPr>
          <a:xfrm>
            <a:off x="685800" y="2560320"/>
            <a:ext cx="109728" cy="109728"/>
          </a:xfrm>
          <a:prstGeom prst="diamond">
            <a:avLst/>
          </a:prstGeom>
          <a:solidFill>
            <a:srgbClr val="1E3A8A"/>
          </a:solidFill>
          <a:ln/>
        </p:spPr>
      </p:sp>
      <p:sp>
        <p:nvSpPr>
          <p:cNvPr id="7" name="Text 5"/>
          <p:cNvSpPr/>
          <p:nvPr/>
        </p:nvSpPr>
        <p:spPr>
          <a:xfrm>
            <a:off x="905256" y="2487168"/>
            <a:ext cx="3383280" cy="512064"/>
          </a:xfrm>
          <a:prstGeom prst="rect">
            <a:avLst/>
          </a:prstGeom>
          <a:noFill/>
          <a:ln/>
        </p:spPr>
        <p:txBody>
          <a:bodyPr wrap="square" lIns="0" tIns="0" rIns="0" bIns="0" rtlCol="0" anchor="ctr"/>
          <a:lstStyle/>
          <a:p>
            <a:pPr indent="0" marL="0">
              <a:buNone/>
            </a:pPr>
            <a:r>
              <a:rPr lang="en-US" sz="850" b="1" dirty="0">
                <a:solidFill>
                  <a:srgbClr val="1E3A8A"/>
                </a:solidFill>
                <a:latin typeface="Arial" pitchFamily="34" charset="0"/>
                <a:ea typeface="Arial" pitchFamily="34" charset="-122"/>
                <a:cs typeface="Arial" pitchFamily="34" charset="-120"/>
              </a:rPr>
              <a:t>Leren  </a:t>
            </a:r>
            <a:pPr indent="0" marL="0">
              <a:buNone/>
            </a:pPr>
            <a:r>
              <a:rPr lang="en-US" sz="950" dirty="0">
                <a:solidFill>
                  <a:srgbClr val="4A5568"/>
                </a:solidFill>
                <a:latin typeface="Arial" pitchFamily="34" charset="0"/>
                <a:ea typeface="Arial" pitchFamily="34" charset="-122"/>
                <a:cs typeface="Arial" pitchFamily="34" charset="-120"/>
              </a:rPr>
              <a:t>AI-posities per domein. Start EduGenAI</a:t>
            </a:r>
            <a:endParaRPr lang="en-US" sz="850" dirty="0"/>
          </a:p>
        </p:txBody>
      </p:sp>
      <p:sp>
        <p:nvSpPr>
          <p:cNvPr id="8" name="Shape 6"/>
          <p:cNvSpPr/>
          <p:nvPr/>
        </p:nvSpPr>
        <p:spPr>
          <a:xfrm>
            <a:off x="685800" y="3090672"/>
            <a:ext cx="109728" cy="109728"/>
          </a:xfrm>
          <a:prstGeom prst="diamond">
            <a:avLst/>
          </a:prstGeom>
          <a:solidFill>
            <a:srgbClr val="0F766E"/>
          </a:solidFill>
          <a:ln/>
        </p:spPr>
      </p:sp>
      <p:sp>
        <p:nvSpPr>
          <p:cNvPr id="9" name="Text 7"/>
          <p:cNvSpPr/>
          <p:nvPr/>
        </p:nvSpPr>
        <p:spPr>
          <a:xfrm>
            <a:off x="905256" y="3017520"/>
            <a:ext cx="3383280" cy="512064"/>
          </a:xfrm>
          <a:prstGeom prst="rect">
            <a:avLst/>
          </a:prstGeom>
          <a:noFill/>
          <a:ln/>
        </p:spPr>
        <p:txBody>
          <a:bodyPr wrap="square" lIns="0" tIns="0" rIns="0" bIns="0" rtlCol="0" anchor="ctr"/>
          <a:lstStyle/>
          <a:p>
            <a:pPr indent="0" marL="0">
              <a:buNone/>
            </a:pPr>
            <a:r>
              <a:rPr lang="en-US" sz="850" b="1" dirty="0">
                <a:solidFill>
                  <a:srgbClr val="0F766E"/>
                </a:solidFill>
                <a:latin typeface="Arial" pitchFamily="34" charset="0"/>
                <a:ea typeface="Arial" pitchFamily="34" charset="-122"/>
                <a:cs typeface="Arial" pitchFamily="34" charset="-120"/>
              </a:rPr>
              <a:t>Werken  </a:t>
            </a:r>
            <a:pPr indent="0" marL="0">
              <a:buNone/>
            </a:pPr>
            <a:r>
              <a:rPr lang="en-US" sz="950" dirty="0">
                <a:solidFill>
                  <a:srgbClr val="4A5568"/>
                </a:solidFill>
                <a:latin typeface="Arial" pitchFamily="34" charset="0"/>
                <a:ea typeface="Arial" pitchFamily="34" charset="-122"/>
                <a:cs typeface="Arial" pitchFamily="34" charset="-120"/>
              </a:rPr>
              <a:t>Kansprocessen en afwegingskader</a:t>
            </a:r>
            <a:endParaRPr lang="en-US" sz="850" dirty="0"/>
          </a:p>
        </p:txBody>
      </p:sp>
      <p:sp>
        <p:nvSpPr>
          <p:cNvPr id="10" name="Shape 8"/>
          <p:cNvSpPr/>
          <p:nvPr/>
        </p:nvSpPr>
        <p:spPr>
          <a:xfrm>
            <a:off x="685800" y="3621024"/>
            <a:ext cx="109728" cy="109728"/>
          </a:xfrm>
          <a:prstGeom prst="diamond">
            <a:avLst/>
          </a:prstGeom>
          <a:solidFill>
            <a:srgbClr val="E91E8C"/>
          </a:solidFill>
          <a:ln/>
        </p:spPr>
      </p:sp>
      <p:sp>
        <p:nvSpPr>
          <p:cNvPr id="11" name="Text 9"/>
          <p:cNvSpPr/>
          <p:nvPr/>
        </p:nvSpPr>
        <p:spPr>
          <a:xfrm>
            <a:off x="905256" y="3547872"/>
            <a:ext cx="3383280" cy="512064"/>
          </a:xfrm>
          <a:prstGeom prst="rect">
            <a:avLst/>
          </a:prstGeom>
          <a:noFill/>
          <a:ln/>
        </p:spPr>
        <p:txBody>
          <a:bodyPr wrap="square" lIns="0" tIns="0" rIns="0" bIns="0" rtlCol="0" anchor="ctr"/>
          <a:lstStyle/>
          <a:p>
            <a:pPr indent="0" marL="0">
              <a:buNone/>
            </a:pPr>
            <a:r>
              <a:rPr lang="en-US" sz="850" b="1" dirty="0">
                <a:solidFill>
                  <a:srgbClr val="E91E8C"/>
                </a:solidFill>
                <a:latin typeface="Arial" pitchFamily="34" charset="0"/>
                <a:ea typeface="Arial" pitchFamily="34" charset="-122"/>
                <a:cs typeface="Arial" pitchFamily="34" charset="-120"/>
              </a:rPr>
              <a:t>Verantw.  </a:t>
            </a:r>
            <a:pPr indent="0" marL="0">
              <a:buNone/>
            </a:pPr>
            <a:r>
              <a:rPr lang="en-US" sz="950" dirty="0">
                <a:solidFill>
                  <a:srgbClr val="4A5568"/>
                </a:solidFill>
                <a:latin typeface="Arial" pitchFamily="34" charset="0"/>
                <a:ea typeface="Arial" pitchFamily="34" charset="-122"/>
                <a:cs typeface="Arial" pitchFamily="34" charset="-120"/>
              </a:rPr>
              <a:t>AI-beleid v2.0 live. AI Act-classificatie</a:t>
            </a:r>
            <a:endParaRPr lang="en-US" sz="850" dirty="0"/>
          </a:p>
        </p:txBody>
      </p:sp>
      <p:sp>
        <p:nvSpPr>
          <p:cNvPr id="12" name="Shape 10"/>
          <p:cNvSpPr/>
          <p:nvPr/>
        </p:nvSpPr>
        <p:spPr>
          <a:xfrm>
            <a:off x="685800" y="4151376"/>
            <a:ext cx="109728" cy="109728"/>
          </a:xfrm>
          <a:prstGeom prst="diamond">
            <a:avLst/>
          </a:prstGeom>
          <a:solidFill>
            <a:srgbClr val="7C3AED"/>
          </a:solidFill>
          <a:ln/>
        </p:spPr>
      </p:sp>
      <p:sp>
        <p:nvSpPr>
          <p:cNvPr id="13" name="Text 11"/>
          <p:cNvSpPr/>
          <p:nvPr/>
        </p:nvSpPr>
        <p:spPr>
          <a:xfrm>
            <a:off x="905256" y="4078224"/>
            <a:ext cx="3383280" cy="512064"/>
          </a:xfrm>
          <a:prstGeom prst="rect">
            <a:avLst/>
          </a:prstGeom>
          <a:noFill/>
          <a:ln/>
        </p:spPr>
        <p:txBody>
          <a:bodyPr wrap="square" lIns="0" tIns="0" rIns="0" bIns="0" rtlCol="0" anchor="ctr"/>
          <a:lstStyle/>
          <a:p>
            <a:pPr indent="0" marL="0">
              <a:buNone/>
            </a:pPr>
            <a:r>
              <a:rPr lang="en-US" sz="850" b="1" dirty="0">
                <a:solidFill>
                  <a:srgbClr val="7C3AED"/>
                </a:solidFill>
                <a:latin typeface="Arial" pitchFamily="34" charset="0"/>
                <a:ea typeface="Arial" pitchFamily="34" charset="-122"/>
                <a:cs typeface="Arial" pitchFamily="34" charset="-120"/>
              </a:rPr>
              <a:t>Geletterdheid  </a:t>
            </a:r>
            <a:pPr indent="0" marL="0">
              <a:buNone/>
            </a:pPr>
            <a:r>
              <a:rPr lang="en-US" sz="950" dirty="0">
                <a:solidFill>
                  <a:srgbClr val="4A5568"/>
                </a:solidFill>
                <a:latin typeface="Arial" pitchFamily="34" charset="0"/>
                <a:ea typeface="Arial" pitchFamily="34" charset="-122"/>
                <a:cs typeface="Arial" pitchFamily="34" charset="-120"/>
              </a:rPr>
              <a:t>Basisprofiel AI-GO. ARDA-modules live</a:t>
            </a:r>
            <a:endParaRPr lang="en-US" sz="850" dirty="0"/>
          </a:p>
        </p:txBody>
      </p:sp>
      <p:sp>
        <p:nvSpPr>
          <p:cNvPr id="14" name="Shape 12"/>
          <p:cNvSpPr/>
          <p:nvPr/>
        </p:nvSpPr>
        <p:spPr>
          <a:xfrm>
            <a:off x="685800" y="4681728"/>
            <a:ext cx="109728" cy="109728"/>
          </a:xfrm>
          <a:prstGeom prst="diamond">
            <a:avLst/>
          </a:prstGeom>
          <a:solidFill>
            <a:srgbClr val="B45309"/>
          </a:solidFill>
          <a:ln/>
        </p:spPr>
      </p:sp>
      <p:sp>
        <p:nvSpPr>
          <p:cNvPr id="15" name="Text 13"/>
          <p:cNvSpPr/>
          <p:nvPr/>
        </p:nvSpPr>
        <p:spPr>
          <a:xfrm>
            <a:off x="905256" y="4608576"/>
            <a:ext cx="3383280" cy="512064"/>
          </a:xfrm>
          <a:prstGeom prst="rect">
            <a:avLst/>
          </a:prstGeom>
          <a:noFill/>
          <a:ln/>
        </p:spPr>
        <p:txBody>
          <a:bodyPr wrap="square" lIns="0" tIns="0" rIns="0" bIns="0" rtlCol="0" anchor="ctr"/>
          <a:lstStyle/>
          <a:p>
            <a:pPr indent="0" marL="0">
              <a:buNone/>
            </a:pPr>
            <a:r>
              <a:rPr lang="en-US" sz="850" b="1" dirty="0">
                <a:solidFill>
                  <a:srgbClr val="B45309"/>
                </a:solidFill>
                <a:latin typeface="Arial" pitchFamily="34" charset="0"/>
                <a:ea typeface="Arial" pitchFamily="34" charset="-122"/>
                <a:cs typeface="Arial" pitchFamily="34" charset="-120"/>
              </a:rPr>
              <a:t>Werkveld  </a:t>
            </a:r>
            <a:pPr indent="0" marL="0">
              <a:buNone/>
            </a:pPr>
            <a:r>
              <a:rPr lang="en-US" sz="950" dirty="0">
                <a:solidFill>
                  <a:srgbClr val="4A5568"/>
                </a:solidFill>
                <a:latin typeface="Arial" pitchFamily="34" charset="0"/>
                <a:ea typeface="Arial" pitchFamily="34" charset="-122"/>
                <a:cs typeface="Arial" pitchFamily="34" charset="-120"/>
              </a:rPr>
              <a:t>AI-competenties per domein</a:t>
            </a:r>
            <a:endParaRPr lang="en-US" sz="850" dirty="0"/>
          </a:p>
        </p:txBody>
      </p:sp>
      <p:sp>
        <p:nvSpPr>
          <p:cNvPr id="16" name="Shape 14"/>
          <p:cNvSpPr/>
          <p:nvPr/>
        </p:nvSpPr>
        <p:spPr>
          <a:xfrm>
            <a:off x="685800" y="5212080"/>
            <a:ext cx="109728" cy="109728"/>
          </a:xfrm>
          <a:prstGeom prst="diamond">
            <a:avLst/>
          </a:prstGeom>
          <a:solidFill>
            <a:srgbClr val="0E7490"/>
          </a:solidFill>
          <a:ln/>
        </p:spPr>
      </p:sp>
      <p:sp>
        <p:nvSpPr>
          <p:cNvPr id="17" name="Text 15"/>
          <p:cNvSpPr/>
          <p:nvPr/>
        </p:nvSpPr>
        <p:spPr>
          <a:xfrm>
            <a:off x="905256" y="5138928"/>
            <a:ext cx="3383280" cy="512064"/>
          </a:xfrm>
          <a:prstGeom prst="rect">
            <a:avLst/>
          </a:prstGeom>
          <a:noFill/>
          <a:ln/>
        </p:spPr>
        <p:txBody>
          <a:bodyPr wrap="square" lIns="0" tIns="0" rIns="0" bIns="0" rtlCol="0" anchor="ctr"/>
          <a:lstStyle/>
          <a:p>
            <a:pPr indent="0" marL="0">
              <a:buNone/>
            </a:pPr>
            <a:r>
              <a:rPr lang="en-US" sz="850" b="1" dirty="0">
                <a:solidFill>
                  <a:srgbClr val="0E7490"/>
                </a:solidFill>
                <a:latin typeface="Arial" pitchFamily="34" charset="0"/>
                <a:ea typeface="Arial" pitchFamily="34" charset="-122"/>
                <a:cs typeface="Arial" pitchFamily="34" charset="-120"/>
              </a:rPr>
              <a:t>Onderzoek  </a:t>
            </a:r>
            <a:pPr indent="0" marL="0">
              <a:buNone/>
            </a:pPr>
            <a:r>
              <a:rPr lang="en-US" sz="950" dirty="0">
                <a:solidFill>
                  <a:srgbClr val="4A5568"/>
                </a:solidFill>
                <a:latin typeface="Arial" pitchFamily="34" charset="0"/>
                <a:ea typeface="Arial" pitchFamily="34" charset="-122"/>
                <a:cs typeface="Arial" pitchFamily="34" charset="-120"/>
              </a:rPr>
              <a:t>Lectoraten verbinden. Kennisagenda</a:t>
            </a:r>
            <a:endParaRPr lang="en-US" sz="850" dirty="0"/>
          </a:p>
        </p:txBody>
      </p:sp>
      <p:sp>
        <p:nvSpPr>
          <p:cNvPr id="18" name="Shape 16"/>
          <p:cNvSpPr/>
          <p:nvPr/>
        </p:nvSpPr>
        <p:spPr>
          <a:xfrm>
            <a:off x="685800" y="5742432"/>
            <a:ext cx="109728" cy="109728"/>
          </a:xfrm>
          <a:prstGeom prst="diamond">
            <a:avLst/>
          </a:prstGeom>
          <a:solidFill>
            <a:srgbClr val="003DA5"/>
          </a:solidFill>
          <a:ln/>
        </p:spPr>
      </p:sp>
      <p:sp>
        <p:nvSpPr>
          <p:cNvPr id="19" name="Text 17"/>
          <p:cNvSpPr/>
          <p:nvPr/>
        </p:nvSpPr>
        <p:spPr>
          <a:xfrm>
            <a:off x="905256" y="5669280"/>
            <a:ext cx="3383280" cy="512064"/>
          </a:xfrm>
          <a:prstGeom prst="rect">
            <a:avLst/>
          </a:prstGeom>
          <a:noFill/>
          <a:ln/>
        </p:spPr>
        <p:txBody>
          <a:bodyPr wrap="square" lIns="0" tIns="0" rIns="0" bIns="0" rtlCol="0" anchor="ctr"/>
          <a:lstStyle/>
          <a:p>
            <a:pPr indent="0" marL="0">
              <a:buNone/>
            </a:pPr>
            <a:r>
              <a:rPr lang="en-US" sz="850" b="1" dirty="0">
                <a:solidFill>
                  <a:srgbClr val="003DA5"/>
                </a:solidFill>
                <a:latin typeface="Arial" pitchFamily="34" charset="0"/>
                <a:ea typeface="Arial" pitchFamily="34" charset="-122"/>
                <a:cs typeface="Arial" pitchFamily="34" charset="-120"/>
              </a:rPr>
              <a:t>Sandbox  </a:t>
            </a:r>
            <a:pPr indent="0" marL="0">
              <a:buNone/>
            </a:pPr>
            <a:r>
              <a:rPr lang="en-US" sz="950" dirty="0">
                <a:solidFill>
                  <a:srgbClr val="4A5568"/>
                </a:solidFill>
                <a:latin typeface="Arial" pitchFamily="34" charset="0"/>
                <a:ea typeface="Arial" pitchFamily="34" charset="-122"/>
                <a:cs typeface="Arial" pitchFamily="34" charset="-120"/>
              </a:rPr>
              <a:t>Sandboxes inrichten en operationeel</a:t>
            </a:r>
            <a:endParaRPr lang="en-US" sz="850" dirty="0"/>
          </a:p>
        </p:txBody>
      </p:sp>
      <p:sp>
        <p:nvSpPr>
          <p:cNvPr id="20" name="Text 18"/>
          <p:cNvSpPr/>
          <p:nvPr/>
        </p:nvSpPr>
        <p:spPr>
          <a:xfrm>
            <a:off x="4480560" y="1600200"/>
            <a:ext cx="2011680" cy="457200"/>
          </a:xfrm>
          <a:prstGeom prst="rect">
            <a:avLst/>
          </a:prstGeom>
          <a:noFill/>
          <a:ln/>
        </p:spPr>
        <p:txBody>
          <a:bodyPr wrap="square" lIns="0" tIns="0" rIns="0" bIns="0" rtlCol="0" anchor="ctr"/>
          <a:lstStyle/>
          <a:p>
            <a:pPr indent="0" marL="0">
              <a:buNone/>
            </a:pPr>
            <a:r>
              <a:rPr lang="en-US" sz="2400" b="1" dirty="0">
                <a:solidFill>
                  <a:srgbClr val="003DA5"/>
                </a:solidFill>
                <a:latin typeface="Arial" pitchFamily="34" charset="0"/>
                <a:ea typeface="Arial" pitchFamily="34" charset="-122"/>
                <a:cs typeface="Arial" pitchFamily="34" charset="-120"/>
              </a:rPr>
              <a:t>2027-28</a:t>
            </a:r>
            <a:endParaRPr lang="en-US" sz="2400" dirty="0"/>
          </a:p>
        </p:txBody>
      </p:sp>
      <p:sp>
        <p:nvSpPr>
          <p:cNvPr id="21" name="Text 19"/>
          <p:cNvSpPr/>
          <p:nvPr/>
        </p:nvSpPr>
        <p:spPr>
          <a:xfrm>
            <a:off x="4498848" y="2057400"/>
            <a:ext cx="2560320" cy="274320"/>
          </a:xfrm>
          <a:prstGeom prst="rect">
            <a:avLst/>
          </a:prstGeom>
          <a:noFill/>
          <a:ln/>
        </p:spPr>
        <p:txBody>
          <a:bodyPr wrap="square" lIns="0" tIns="0" rIns="0" bIns="0" rtlCol="0" anchor="ctr"/>
          <a:lstStyle/>
          <a:p>
            <a:pPr indent="0" marL="0">
              <a:buNone/>
            </a:pPr>
            <a:r>
              <a:rPr lang="en-US" sz="1100" b="1" spc="300" kern="0" dirty="0">
                <a:solidFill>
                  <a:srgbClr val="8C1D82"/>
                </a:solidFill>
                <a:latin typeface="Arial" pitchFamily="34" charset="0"/>
                <a:ea typeface="Arial" pitchFamily="34" charset="-122"/>
                <a:cs typeface="Arial" pitchFamily="34" charset="-120"/>
              </a:rPr>
              <a:t>UITBOUWEN</a:t>
            </a:r>
            <a:endParaRPr lang="en-US" sz="1100" dirty="0"/>
          </a:p>
        </p:txBody>
      </p:sp>
      <p:sp>
        <p:nvSpPr>
          <p:cNvPr id="22" name="Shape 20"/>
          <p:cNvSpPr/>
          <p:nvPr/>
        </p:nvSpPr>
        <p:spPr>
          <a:xfrm>
            <a:off x="4480560" y="2560320"/>
            <a:ext cx="109728" cy="109728"/>
          </a:xfrm>
          <a:prstGeom prst="diamond">
            <a:avLst/>
          </a:prstGeom>
          <a:solidFill>
            <a:srgbClr val="1E3A8A"/>
          </a:solidFill>
          <a:ln/>
        </p:spPr>
      </p:sp>
      <p:sp>
        <p:nvSpPr>
          <p:cNvPr id="23" name="Text 21"/>
          <p:cNvSpPr/>
          <p:nvPr/>
        </p:nvSpPr>
        <p:spPr>
          <a:xfrm>
            <a:off x="4700016" y="2487168"/>
            <a:ext cx="3383280" cy="512064"/>
          </a:xfrm>
          <a:prstGeom prst="rect">
            <a:avLst/>
          </a:prstGeom>
          <a:noFill/>
          <a:ln/>
        </p:spPr>
        <p:txBody>
          <a:bodyPr wrap="square" lIns="0" tIns="0" rIns="0" bIns="0" rtlCol="0" anchor="ctr"/>
          <a:lstStyle/>
          <a:p>
            <a:pPr indent="0" marL="0">
              <a:buNone/>
            </a:pPr>
            <a:r>
              <a:rPr lang="en-US" sz="850" b="1" dirty="0">
                <a:solidFill>
                  <a:srgbClr val="1E3A8A"/>
                </a:solidFill>
                <a:latin typeface="Arial" pitchFamily="34" charset="0"/>
                <a:ea typeface="Arial" pitchFamily="34" charset="-122"/>
                <a:cs typeface="Arial" pitchFamily="34" charset="-120"/>
              </a:rPr>
              <a:t>Leren  </a:t>
            </a:r>
            <a:pPr indent="0" marL="0">
              <a:buNone/>
            </a:pPr>
            <a:r>
              <a:rPr lang="en-US" sz="950" dirty="0">
                <a:solidFill>
                  <a:srgbClr val="4A5568"/>
                </a:solidFill>
                <a:latin typeface="Arial" pitchFamily="34" charset="0"/>
                <a:ea typeface="Arial" pitchFamily="34" charset="-122"/>
                <a:cs typeface="Arial" pitchFamily="34" charset="-120"/>
              </a:rPr>
              <a:t>AI-bestendige toetsvormen uitrollen</a:t>
            </a:r>
            <a:endParaRPr lang="en-US" sz="850" dirty="0"/>
          </a:p>
        </p:txBody>
      </p:sp>
      <p:sp>
        <p:nvSpPr>
          <p:cNvPr id="24" name="Shape 22"/>
          <p:cNvSpPr/>
          <p:nvPr/>
        </p:nvSpPr>
        <p:spPr>
          <a:xfrm>
            <a:off x="4480560" y="3090672"/>
            <a:ext cx="109728" cy="109728"/>
          </a:xfrm>
          <a:prstGeom prst="diamond">
            <a:avLst/>
          </a:prstGeom>
          <a:solidFill>
            <a:srgbClr val="0F766E"/>
          </a:solidFill>
          <a:ln/>
        </p:spPr>
      </p:sp>
      <p:sp>
        <p:nvSpPr>
          <p:cNvPr id="25" name="Text 23"/>
          <p:cNvSpPr/>
          <p:nvPr/>
        </p:nvSpPr>
        <p:spPr>
          <a:xfrm>
            <a:off x="4700016" y="3017520"/>
            <a:ext cx="3383280" cy="512064"/>
          </a:xfrm>
          <a:prstGeom prst="rect">
            <a:avLst/>
          </a:prstGeom>
          <a:noFill/>
          <a:ln/>
        </p:spPr>
        <p:txBody>
          <a:bodyPr wrap="square" lIns="0" tIns="0" rIns="0" bIns="0" rtlCol="0" anchor="ctr"/>
          <a:lstStyle/>
          <a:p>
            <a:pPr indent="0" marL="0">
              <a:buNone/>
            </a:pPr>
            <a:r>
              <a:rPr lang="en-US" sz="850" b="1" dirty="0">
                <a:solidFill>
                  <a:srgbClr val="0F766E"/>
                </a:solidFill>
                <a:latin typeface="Arial" pitchFamily="34" charset="0"/>
                <a:ea typeface="Arial" pitchFamily="34" charset="-122"/>
                <a:cs typeface="Arial" pitchFamily="34" charset="-120"/>
              </a:rPr>
              <a:t>Werken  </a:t>
            </a:r>
            <a:pPr indent="0" marL="0">
              <a:buNone/>
            </a:pPr>
            <a:r>
              <a:rPr lang="en-US" sz="950" dirty="0">
                <a:solidFill>
                  <a:srgbClr val="4A5568"/>
                </a:solidFill>
                <a:latin typeface="Arial" pitchFamily="34" charset="0"/>
                <a:ea typeface="Arial" pitchFamily="34" charset="-122"/>
                <a:cs typeface="Arial" pitchFamily="34" charset="-120"/>
              </a:rPr>
              <a:t>Pilots evalueren, cases opschalen</a:t>
            </a:r>
            <a:endParaRPr lang="en-US" sz="850" dirty="0"/>
          </a:p>
        </p:txBody>
      </p:sp>
      <p:sp>
        <p:nvSpPr>
          <p:cNvPr id="26" name="Shape 24"/>
          <p:cNvSpPr/>
          <p:nvPr/>
        </p:nvSpPr>
        <p:spPr>
          <a:xfrm>
            <a:off x="4480560" y="3621024"/>
            <a:ext cx="109728" cy="109728"/>
          </a:xfrm>
          <a:prstGeom prst="diamond">
            <a:avLst/>
          </a:prstGeom>
          <a:solidFill>
            <a:srgbClr val="E91E8C"/>
          </a:solidFill>
          <a:ln/>
        </p:spPr>
      </p:sp>
      <p:sp>
        <p:nvSpPr>
          <p:cNvPr id="27" name="Text 25"/>
          <p:cNvSpPr/>
          <p:nvPr/>
        </p:nvSpPr>
        <p:spPr>
          <a:xfrm>
            <a:off x="4700016" y="3547872"/>
            <a:ext cx="3383280" cy="512064"/>
          </a:xfrm>
          <a:prstGeom prst="rect">
            <a:avLst/>
          </a:prstGeom>
          <a:noFill/>
          <a:ln/>
        </p:spPr>
        <p:txBody>
          <a:bodyPr wrap="square" lIns="0" tIns="0" rIns="0" bIns="0" rtlCol="0" anchor="ctr"/>
          <a:lstStyle/>
          <a:p>
            <a:pPr indent="0" marL="0">
              <a:buNone/>
            </a:pPr>
            <a:r>
              <a:rPr lang="en-US" sz="850" b="1" dirty="0">
                <a:solidFill>
                  <a:srgbClr val="E91E8C"/>
                </a:solidFill>
                <a:latin typeface="Arial" pitchFamily="34" charset="0"/>
                <a:ea typeface="Arial" pitchFamily="34" charset="-122"/>
                <a:cs typeface="Arial" pitchFamily="34" charset="-120"/>
              </a:rPr>
              <a:t>Verantw.  </a:t>
            </a:r>
            <a:pPr indent="0" marL="0">
              <a:buNone/>
            </a:pPr>
            <a:r>
              <a:rPr lang="en-US" sz="950" dirty="0">
                <a:solidFill>
                  <a:srgbClr val="4A5568"/>
                </a:solidFill>
                <a:latin typeface="Arial" pitchFamily="34" charset="0"/>
                <a:ea typeface="Arial" pitchFamily="34" charset="-122"/>
                <a:cs typeface="Arial" pitchFamily="34" charset="-120"/>
              </a:rPr>
              <a:t>Compliance per toepassing</a:t>
            </a:r>
            <a:endParaRPr lang="en-US" sz="850" dirty="0"/>
          </a:p>
        </p:txBody>
      </p:sp>
      <p:sp>
        <p:nvSpPr>
          <p:cNvPr id="28" name="Shape 26"/>
          <p:cNvSpPr/>
          <p:nvPr/>
        </p:nvSpPr>
        <p:spPr>
          <a:xfrm>
            <a:off x="4480560" y="4151376"/>
            <a:ext cx="109728" cy="109728"/>
          </a:xfrm>
          <a:prstGeom prst="diamond">
            <a:avLst/>
          </a:prstGeom>
          <a:solidFill>
            <a:srgbClr val="7C3AED"/>
          </a:solidFill>
          <a:ln/>
        </p:spPr>
      </p:sp>
      <p:sp>
        <p:nvSpPr>
          <p:cNvPr id="29" name="Text 27"/>
          <p:cNvSpPr/>
          <p:nvPr/>
        </p:nvSpPr>
        <p:spPr>
          <a:xfrm>
            <a:off x="4700016" y="4078224"/>
            <a:ext cx="3383280" cy="512064"/>
          </a:xfrm>
          <a:prstGeom prst="rect">
            <a:avLst/>
          </a:prstGeom>
          <a:noFill/>
          <a:ln/>
        </p:spPr>
        <p:txBody>
          <a:bodyPr wrap="square" lIns="0" tIns="0" rIns="0" bIns="0" rtlCol="0" anchor="ctr"/>
          <a:lstStyle/>
          <a:p>
            <a:pPr indent="0" marL="0">
              <a:buNone/>
            </a:pPr>
            <a:r>
              <a:rPr lang="en-US" sz="850" b="1" dirty="0">
                <a:solidFill>
                  <a:srgbClr val="7C3AED"/>
                </a:solidFill>
                <a:latin typeface="Arial" pitchFamily="34" charset="0"/>
                <a:ea typeface="Arial" pitchFamily="34" charset="-122"/>
                <a:cs typeface="Arial" pitchFamily="34" charset="-120"/>
              </a:rPr>
              <a:t>Geletterdheid  </a:t>
            </a:r>
            <a:pPr indent="0" marL="0">
              <a:buNone/>
            </a:pPr>
            <a:r>
              <a:rPr lang="en-US" sz="950" dirty="0">
                <a:solidFill>
                  <a:srgbClr val="4A5568"/>
                </a:solidFill>
                <a:latin typeface="Arial" pitchFamily="34" charset="0"/>
                <a:ea typeface="Arial" pitchFamily="34" charset="-122"/>
                <a:cs typeface="Arial" pitchFamily="34" charset="-120"/>
              </a:rPr>
              <a:t>Verdiepingspaden per rol. Meting</a:t>
            </a:r>
            <a:endParaRPr lang="en-US" sz="850" dirty="0"/>
          </a:p>
        </p:txBody>
      </p:sp>
      <p:sp>
        <p:nvSpPr>
          <p:cNvPr id="30" name="Shape 28"/>
          <p:cNvSpPr/>
          <p:nvPr/>
        </p:nvSpPr>
        <p:spPr>
          <a:xfrm>
            <a:off x="4480560" y="4681728"/>
            <a:ext cx="109728" cy="109728"/>
          </a:xfrm>
          <a:prstGeom prst="diamond">
            <a:avLst/>
          </a:prstGeom>
          <a:solidFill>
            <a:srgbClr val="B45309"/>
          </a:solidFill>
          <a:ln/>
        </p:spPr>
      </p:sp>
      <p:sp>
        <p:nvSpPr>
          <p:cNvPr id="31" name="Text 29"/>
          <p:cNvSpPr/>
          <p:nvPr/>
        </p:nvSpPr>
        <p:spPr>
          <a:xfrm>
            <a:off x="4700016" y="4608576"/>
            <a:ext cx="3383280" cy="512064"/>
          </a:xfrm>
          <a:prstGeom prst="rect">
            <a:avLst/>
          </a:prstGeom>
          <a:noFill/>
          <a:ln/>
        </p:spPr>
        <p:txBody>
          <a:bodyPr wrap="square" lIns="0" tIns="0" rIns="0" bIns="0" rtlCol="0" anchor="ctr"/>
          <a:lstStyle/>
          <a:p>
            <a:pPr indent="0" marL="0">
              <a:buNone/>
            </a:pPr>
            <a:r>
              <a:rPr lang="en-US" sz="850" b="1" dirty="0">
                <a:solidFill>
                  <a:srgbClr val="B45309"/>
                </a:solidFill>
                <a:latin typeface="Arial" pitchFamily="34" charset="0"/>
                <a:ea typeface="Arial" pitchFamily="34" charset="-122"/>
                <a:cs typeface="Arial" pitchFamily="34" charset="-120"/>
              </a:rPr>
              <a:t>Werkveld  </a:t>
            </a:r>
            <a:pPr indent="0" marL="0">
              <a:buNone/>
            </a:pPr>
            <a:r>
              <a:rPr lang="en-US" sz="950" dirty="0">
                <a:solidFill>
                  <a:srgbClr val="4A5568"/>
                </a:solidFill>
                <a:latin typeface="Arial" pitchFamily="34" charset="0"/>
                <a:ea typeface="Arial" pitchFamily="34" charset="-122"/>
                <a:cs typeface="Arial" pitchFamily="34" charset="-120"/>
              </a:rPr>
              <a:t>AI verankeren in curricula</a:t>
            </a:r>
            <a:endParaRPr lang="en-US" sz="850" dirty="0"/>
          </a:p>
        </p:txBody>
      </p:sp>
      <p:sp>
        <p:nvSpPr>
          <p:cNvPr id="32" name="Shape 30"/>
          <p:cNvSpPr/>
          <p:nvPr/>
        </p:nvSpPr>
        <p:spPr>
          <a:xfrm>
            <a:off x="4480560" y="5212080"/>
            <a:ext cx="109728" cy="109728"/>
          </a:xfrm>
          <a:prstGeom prst="diamond">
            <a:avLst/>
          </a:prstGeom>
          <a:solidFill>
            <a:srgbClr val="0E7490"/>
          </a:solidFill>
          <a:ln/>
        </p:spPr>
      </p:sp>
      <p:sp>
        <p:nvSpPr>
          <p:cNvPr id="33" name="Text 31"/>
          <p:cNvSpPr/>
          <p:nvPr/>
        </p:nvSpPr>
        <p:spPr>
          <a:xfrm>
            <a:off x="4700016" y="5138928"/>
            <a:ext cx="3383280" cy="512064"/>
          </a:xfrm>
          <a:prstGeom prst="rect">
            <a:avLst/>
          </a:prstGeom>
          <a:noFill/>
          <a:ln/>
        </p:spPr>
        <p:txBody>
          <a:bodyPr wrap="square" lIns="0" tIns="0" rIns="0" bIns="0" rtlCol="0" anchor="ctr"/>
          <a:lstStyle/>
          <a:p>
            <a:pPr indent="0" marL="0">
              <a:buNone/>
            </a:pPr>
            <a:r>
              <a:rPr lang="en-US" sz="850" b="1" dirty="0">
                <a:solidFill>
                  <a:srgbClr val="0E7490"/>
                </a:solidFill>
                <a:latin typeface="Arial" pitchFamily="34" charset="0"/>
                <a:ea typeface="Arial" pitchFamily="34" charset="-122"/>
                <a:cs typeface="Arial" pitchFamily="34" charset="-120"/>
              </a:rPr>
              <a:t>Onderzoek  </a:t>
            </a:r>
            <a:pPr indent="0" marL="0">
              <a:buNone/>
            </a:pPr>
            <a:r>
              <a:rPr lang="en-US" sz="950" dirty="0">
                <a:solidFill>
                  <a:srgbClr val="4A5568"/>
                </a:solidFill>
                <a:latin typeface="Arial" pitchFamily="34" charset="0"/>
                <a:ea typeface="Arial" pitchFamily="34" charset="-122"/>
                <a:cs typeface="Arial" pitchFamily="34" charset="-120"/>
              </a:rPr>
              <a:t>Regionale positionering onderzoek</a:t>
            </a:r>
            <a:endParaRPr lang="en-US" sz="850" dirty="0"/>
          </a:p>
        </p:txBody>
      </p:sp>
      <p:sp>
        <p:nvSpPr>
          <p:cNvPr id="34" name="Shape 32"/>
          <p:cNvSpPr/>
          <p:nvPr/>
        </p:nvSpPr>
        <p:spPr>
          <a:xfrm>
            <a:off x="4480560" y="5742432"/>
            <a:ext cx="109728" cy="109728"/>
          </a:xfrm>
          <a:prstGeom prst="diamond">
            <a:avLst/>
          </a:prstGeom>
          <a:solidFill>
            <a:srgbClr val="003DA5"/>
          </a:solidFill>
          <a:ln/>
        </p:spPr>
      </p:sp>
      <p:sp>
        <p:nvSpPr>
          <p:cNvPr id="35" name="Text 33"/>
          <p:cNvSpPr/>
          <p:nvPr/>
        </p:nvSpPr>
        <p:spPr>
          <a:xfrm>
            <a:off x="4700016" y="5669280"/>
            <a:ext cx="3383280" cy="512064"/>
          </a:xfrm>
          <a:prstGeom prst="rect">
            <a:avLst/>
          </a:prstGeom>
          <a:noFill/>
          <a:ln/>
        </p:spPr>
        <p:txBody>
          <a:bodyPr wrap="square" lIns="0" tIns="0" rIns="0" bIns="0" rtlCol="0" anchor="ctr"/>
          <a:lstStyle/>
          <a:p>
            <a:pPr indent="0" marL="0">
              <a:buNone/>
            </a:pPr>
            <a:r>
              <a:rPr lang="en-US" sz="850" b="1" dirty="0">
                <a:solidFill>
                  <a:srgbClr val="003DA5"/>
                </a:solidFill>
                <a:latin typeface="Arial" pitchFamily="34" charset="0"/>
                <a:ea typeface="Arial" pitchFamily="34" charset="-122"/>
                <a:cs typeface="Arial" pitchFamily="34" charset="-120"/>
              </a:rPr>
              <a:t>Sandbox  </a:t>
            </a:r>
            <a:pPr indent="0" marL="0">
              <a:buNone/>
            </a:pPr>
            <a:r>
              <a:rPr lang="en-US" sz="950" dirty="0">
                <a:solidFill>
                  <a:srgbClr val="4A5568"/>
                </a:solidFill>
                <a:latin typeface="Arial" pitchFamily="34" charset="0"/>
                <a:ea typeface="Arial" pitchFamily="34" charset="-122"/>
                <a:cs typeface="Arial" pitchFamily="34" charset="-120"/>
              </a:rPr>
              <a:t>Intake live. Eerste sandboxpilots</a:t>
            </a:r>
            <a:endParaRPr lang="en-US" sz="850" dirty="0"/>
          </a:p>
        </p:txBody>
      </p:sp>
      <p:sp>
        <p:nvSpPr>
          <p:cNvPr id="36" name="Text 34"/>
          <p:cNvSpPr/>
          <p:nvPr/>
        </p:nvSpPr>
        <p:spPr>
          <a:xfrm>
            <a:off x="8275320" y="1600200"/>
            <a:ext cx="2011680" cy="457200"/>
          </a:xfrm>
          <a:prstGeom prst="rect">
            <a:avLst/>
          </a:prstGeom>
          <a:noFill/>
          <a:ln/>
        </p:spPr>
        <p:txBody>
          <a:bodyPr wrap="square" lIns="0" tIns="0" rIns="0" bIns="0" rtlCol="0" anchor="ctr"/>
          <a:lstStyle/>
          <a:p>
            <a:pPr indent="0" marL="0">
              <a:buNone/>
            </a:pPr>
            <a:r>
              <a:rPr lang="en-US" sz="2400" b="1" dirty="0">
                <a:solidFill>
                  <a:srgbClr val="003DA5"/>
                </a:solidFill>
                <a:latin typeface="Arial" pitchFamily="34" charset="0"/>
                <a:ea typeface="Arial" pitchFamily="34" charset="-122"/>
                <a:cs typeface="Arial" pitchFamily="34" charset="-120"/>
              </a:rPr>
              <a:t>2029-30</a:t>
            </a:r>
            <a:endParaRPr lang="en-US" sz="2400" dirty="0"/>
          </a:p>
        </p:txBody>
      </p:sp>
      <p:sp>
        <p:nvSpPr>
          <p:cNvPr id="37" name="Text 35"/>
          <p:cNvSpPr/>
          <p:nvPr/>
        </p:nvSpPr>
        <p:spPr>
          <a:xfrm>
            <a:off x="8293608" y="2057400"/>
            <a:ext cx="2560320" cy="274320"/>
          </a:xfrm>
          <a:prstGeom prst="rect">
            <a:avLst/>
          </a:prstGeom>
          <a:noFill/>
          <a:ln/>
        </p:spPr>
        <p:txBody>
          <a:bodyPr wrap="square" lIns="0" tIns="0" rIns="0" bIns="0" rtlCol="0" anchor="ctr"/>
          <a:lstStyle/>
          <a:p>
            <a:pPr indent="0" marL="0">
              <a:buNone/>
            </a:pPr>
            <a:r>
              <a:rPr lang="en-US" sz="1100" b="1" spc="300" kern="0" dirty="0">
                <a:solidFill>
                  <a:srgbClr val="8C1D82"/>
                </a:solidFill>
                <a:latin typeface="Arial" pitchFamily="34" charset="0"/>
                <a:ea typeface="Arial" pitchFamily="34" charset="-122"/>
                <a:cs typeface="Arial" pitchFamily="34" charset="-120"/>
              </a:rPr>
              <a:t>VERANKEREN</a:t>
            </a:r>
            <a:endParaRPr lang="en-US" sz="1100" dirty="0"/>
          </a:p>
        </p:txBody>
      </p:sp>
      <p:sp>
        <p:nvSpPr>
          <p:cNvPr id="38" name="Shape 36"/>
          <p:cNvSpPr/>
          <p:nvPr/>
        </p:nvSpPr>
        <p:spPr>
          <a:xfrm>
            <a:off x="8275320" y="2560320"/>
            <a:ext cx="109728" cy="109728"/>
          </a:xfrm>
          <a:prstGeom prst="diamond">
            <a:avLst/>
          </a:prstGeom>
          <a:solidFill>
            <a:srgbClr val="1E3A8A"/>
          </a:solidFill>
          <a:ln/>
        </p:spPr>
      </p:sp>
      <p:sp>
        <p:nvSpPr>
          <p:cNvPr id="39" name="Text 37"/>
          <p:cNvSpPr/>
          <p:nvPr/>
        </p:nvSpPr>
        <p:spPr>
          <a:xfrm>
            <a:off x="8494776" y="2487168"/>
            <a:ext cx="3383280" cy="512064"/>
          </a:xfrm>
          <a:prstGeom prst="rect">
            <a:avLst/>
          </a:prstGeom>
          <a:noFill/>
          <a:ln/>
        </p:spPr>
        <p:txBody>
          <a:bodyPr wrap="square" lIns="0" tIns="0" rIns="0" bIns="0" rtlCol="0" anchor="ctr"/>
          <a:lstStyle/>
          <a:p>
            <a:pPr indent="0" marL="0">
              <a:buNone/>
            </a:pPr>
            <a:r>
              <a:rPr lang="en-US" sz="850" b="1" dirty="0">
                <a:solidFill>
                  <a:srgbClr val="1E3A8A"/>
                </a:solidFill>
                <a:latin typeface="Arial" pitchFamily="34" charset="0"/>
                <a:ea typeface="Arial" pitchFamily="34" charset="-122"/>
                <a:cs typeface="Arial" pitchFamily="34" charset="-120"/>
              </a:rPr>
              <a:t>Leren  </a:t>
            </a:r>
            <a:pPr indent="0" marL="0">
              <a:buNone/>
            </a:pPr>
            <a:r>
              <a:rPr lang="en-US" sz="950" dirty="0">
                <a:solidFill>
                  <a:srgbClr val="4A5568"/>
                </a:solidFill>
                <a:latin typeface="Arial" pitchFamily="34" charset="0"/>
                <a:ea typeface="Arial" pitchFamily="34" charset="-122"/>
                <a:cs typeface="Arial" pitchFamily="34" charset="-120"/>
              </a:rPr>
              <a:t>Alle OER's bevatten AI-positie</a:t>
            </a:r>
            <a:endParaRPr lang="en-US" sz="850" dirty="0"/>
          </a:p>
        </p:txBody>
      </p:sp>
      <p:sp>
        <p:nvSpPr>
          <p:cNvPr id="40" name="Shape 38"/>
          <p:cNvSpPr/>
          <p:nvPr/>
        </p:nvSpPr>
        <p:spPr>
          <a:xfrm>
            <a:off x="8275320" y="3090672"/>
            <a:ext cx="109728" cy="109728"/>
          </a:xfrm>
          <a:prstGeom prst="diamond">
            <a:avLst/>
          </a:prstGeom>
          <a:solidFill>
            <a:srgbClr val="0F766E"/>
          </a:solidFill>
          <a:ln/>
        </p:spPr>
      </p:sp>
      <p:sp>
        <p:nvSpPr>
          <p:cNvPr id="41" name="Text 39"/>
          <p:cNvSpPr/>
          <p:nvPr/>
        </p:nvSpPr>
        <p:spPr>
          <a:xfrm>
            <a:off x="8494776" y="3017520"/>
            <a:ext cx="3383280" cy="512064"/>
          </a:xfrm>
          <a:prstGeom prst="rect">
            <a:avLst/>
          </a:prstGeom>
          <a:noFill/>
          <a:ln/>
        </p:spPr>
        <p:txBody>
          <a:bodyPr wrap="square" lIns="0" tIns="0" rIns="0" bIns="0" rtlCol="0" anchor="ctr"/>
          <a:lstStyle/>
          <a:p>
            <a:pPr indent="0" marL="0">
              <a:buNone/>
            </a:pPr>
            <a:r>
              <a:rPr lang="en-US" sz="850" b="1" dirty="0">
                <a:solidFill>
                  <a:srgbClr val="0F766E"/>
                </a:solidFill>
                <a:latin typeface="Arial" pitchFamily="34" charset="0"/>
                <a:ea typeface="Arial" pitchFamily="34" charset="-122"/>
                <a:cs typeface="Arial" pitchFamily="34" charset="-120"/>
              </a:rPr>
              <a:t>Werken  </a:t>
            </a:r>
            <a:pPr indent="0" marL="0">
              <a:buNone/>
            </a:pPr>
            <a:r>
              <a:rPr lang="en-US" sz="950" dirty="0">
                <a:solidFill>
                  <a:srgbClr val="4A5568"/>
                </a:solidFill>
                <a:latin typeface="Arial" pitchFamily="34" charset="0"/>
                <a:ea typeface="Arial" pitchFamily="34" charset="-122"/>
                <a:cs typeface="Arial" pitchFamily="34" charset="-120"/>
              </a:rPr>
              <a:t>5+ processen aantoonbaar verbeterd</a:t>
            </a:r>
            <a:endParaRPr lang="en-US" sz="850" dirty="0"/>
          </a:p>
        </p:txBody>
      </p:sp>
      <p:sp>
        <p:nvSpPr>
          <p:cNvPr id="42" name="Shape 40"/>
          <p:cNvSpPr/>
          <p:nvPr/>
        </p:nvSpPr>
        <p:spPr>
          <a:xfrm>
            <a:off x="8275320" y="3621024"/>
            <a:ext cx="109728" cy="109728"/>
          </a:xfrm>
          <a:prstGeom prst="diamond">
            <a:avLst/>
          </a:prstGeom>
          <a:solidFill>
            <a:srgbClr val="E91E8C"/>
          </a:solidFill>
          <a:ln/>
        </p:spPr>
      </p:sp>
      <p:sp>
        <p:nvSpPr>
          <p:cNvPr id="43" name="Text 41"/>
          <p:cNvSpPr/>
          <p:nvPr/>
        </p:nvSpPr>
        <p:spPr>
          <a:xfrm>
            <a:off x="8494776" y="3547872"/>
            <a:ext cx="3383280" cy="512064"/>
          </a:xfrm>
          <a:prstGeom prst="rect">
            <a:avLst/>
          </a:prstGeom>
          <a:noFill/>
          <a:ln/>
        </p:spPr>
        <p:txBody>
          <a:bodyPr wrap="square" lIns="0" tIns="0" rIns="0" bIns="0" rtlCol="0" anchor="ctr"/>
          <a:lstStyle/>
          <a:p>
            <a:pPr indent="0" marL="0">
              <a:buNone/>
            </a:pPr>
            <a:r>
              <a:rPr lang="en-US" sz="850" b="1" dirty="0">
                <a:solidFill>
                  <a:srgbClr val="E91E8C"/>
                </a:solidFill>
                <a:latin typeface="Arial" pitchFamily="34" charset="0"/>
                <a:ea typeface="Arial" pitchFamily="34" charset="-122"/>
                <a:cs typeface="Arial" pitchFamily="34" charset="-120"/>
              </a:rPr>
              <a:t>Verantw.  </a:t>
            </a:r>
            <a:pPr indent="0" marL="0">
              <a:buNone/>
            </a:pPr>
            <a:r>
              <a:rPr lang="en-US" sz="950" dirty="0">
                <a:solidFill>
                  <a:srgbClr val="4A5568"/>
                </a:solidFill>
                <a:latin typeface="Arial" pitchFamily="34" charset="0"/>
                <a:ea typeface="Arial" pitchFamily="34" charset="-122"/>
                <a:cs typeface="Arial" pitchFamily="34" charset="-120"/>
              </a:rPr>
              <a:t>Jaarrapportage. Gevalideerd framework</a:t>
            </a:r>
            <a:endParaRPr lang="en-US" sz="850" dirty="0"/>
          </a:p>
        </p:txBody>
      </p:sp>
      <p:sp>
        <p:nvSpPr>
          <p:cNvPr id="44" name="Shape 42"/>
          <p:cNvSpPr/>
          <p:nvPr/>
        </p:nvSpPr>
        <p:spPr>
          <a:xfrm>
            <a:off x="8275320" y="4151376"/>
            <a:ext cx="109728" cy="109728"/>
          </a:xfrm>
          <a:prstGeom prst="diamond">
            <a:avLst/>
          </a:prstGeom>
          <a:solidFill>
            <a:srgbClr val="7C3AED"/>
          </a:solidFill>
          <a:ln/>
        </p:spPr>
      </p:sp>
      <p:sp>
        <p:nvSpPr>
          <p:cNvPr id="45" name="Text 43"/>
          <p:cNvSpPr/>
          <p:nvPr/>
        </p:nvSpPr>
        <p:spPr>
          <a:xfrm>
            <a:off x="8494776" y="4078224"/>
            <a:ext cx="3383280" cy="512064"/>
          </a:xfrm>
          <a:prstGeom prst="rect">
            <a:avLst/>
          </a:prstGeom>
          <a:noFill/>
          <a:ln/>
        </p:spPr>
        <p:txBody>
          <a:bodyPr wrap="square" lIns="0" tIns="0" rIns="0" bIns="0" rtlCol="0" anchor="ctr"/>
          <a:lstStyle/>
          <a:p>
            <a:pPr indent="0" marL="0">
              <a:buNone/>
            </a:pPr>
            <a:r>
              <a:rPr lang="en-US" sz="850" b="1" dirty="0">
                <a:solidFill>
                  <a:srgbClr val="7C3AED"/>
                </a:solidFill>
                <a:latin typeface="Arial" pitchFamily="34" charset="0"/>
                <a:ea typeface="Arial" pitchFamily="34" charset="-122"/>
                <a:cs typeface="Arial" pitchFamily="34" charset="-120"/>
              </a:rPr>
              <a:t>Geletterdheid  </a:t>
            </a:r>
            <a:pPr indent="0" marL="0">
              <a:buNone/>
            </a:pPr>
            <a:r>
              <a:rPr lang="en-US" sz="950" dirty="0">
                <a:solidFill>
                  <a:srgbClr val="4A5568"/>
                </a:solidFill>
                <a:latin typeface="Arial" pitchFamily="34" charset="0"/>
                <a:ea typeface="Arial" pitchFamily="34" charset="-122"/>
                <a:cs typeface="Arial" pitchFamily="34" charset="-120"/>
              </a:rPr>
              <a:t>80% medewerkers basisniveau</a:t>
            </a:r>
            <a:endParaRPr lang="en-US" sz="850" dirty="0"/>
          </a:p>
        </p:txBody>
      </p:sp>
      <p:sp>
        <p:nvSpPr>
          <p:cNvPr id="46" name="Shape 44"/>
          <p:cNvSpPr/>
          <p:nvPr/>
        </p:nvSpPr>
        <p:spPr>
          <a:xfrm>
            <a:off x="8275320" y="4681728"/>
            <a:ext cx="109728" cy="109728"/>
          </a:xfrm>
          <a:prstGeom prst="diamond">
            <a:avLst/>
          </a:prstGeom>
          <a:solidFill>
            <a:srgbClr val="B45309"/>
          </a:solidFill>
          <a:ln/>
        </p:spPr>
      </p:sp>
      <p:sp>
        <p:nvSpPr>
          <p:cNvPr id="47" name="Text 45"/>
          <p:cNvSpPr/>
          <p:nvPr/>
        </p:nvSpPr>
        <p:spPr>
          <a:xfrm>
            <a:off x="8494776" y="4608576"/>
            <a:ext cx="3383280" cy="512064"/>
          </a:xfrm>
          <a:prstGeom prst="rect">
            <a:avLst/>
          </a:prstGeom>
          <a:noFill/>
          <a:ln/>
        </p:spPr>
        <p:txBody>
          <a:bodyPr wrap="square" lIns="0" tIns="0" rIns="0" bIns="0" rtlCol="0" anchor="ctr"/>
          <a:lstStyle/>
          <a:p>
            <a:pPr indent="0" marL="0">
              <a:buNone/>
            </a:pPr>
            <a:r>
              <a:rPr lang="en-US" sz="850" b="1" dirty="0">
                <a:solidFill>
                  <a:srgbClr val="B45309"/>
                </a:solidFill>
                <a:latin typeface="Arial" pitchFamily="34" charset="0"/>
                <a:ea typeface="Arial" pitchFamily="34" charset="-122"/>
                <a:cs typeface="Arial" pitchFamily="34" charset="-120"/>
              </a:rPr>
              <a:t>Werkveld  </a:t>
            </a:r>
            <a:pPr indent="0" marL="0">
              <a:buNone/>
            </a:pPr>
            <a:r>
              <a:rPr lang="en-US" sz="950" dirty="0">
                <a:solidFill>
                  <a:srgbClr val="4A5568"/>
                </a:solidFill>
                <a:latin typeface="Arial" pitchFamily="34" charset="0"/>
                <a:ea typeface="Arial" pitchFamily="34" charset="-122"/>
                <a:cs typeface="Arial" pitchFamily="34" charset="-120"/>
              </a:rPr>
              <a:t>Elk domein: AI in kernonderdeel</a:t>
            </a:r>
            <a:endParaRPr lang="en-US" sz="850" dirty="0"/>
          </a:p>
        </p:txBody>
      </p:sp>
      <p:sp>
        <p:nvSpPr>
          <p:cNvPr id="48" name="Shape 46"/>
          <p:cNvSpPr/>
          <p:nvPr/>
        </p:nvSpPr>
        <p:spPr>
          <a:xfrm>
            <a:off x="8275320" y="5212080"/>
            <a:ext cx="109728" cy="109728"/>
          </a:xfrm>
          <a:prstGeom prst="diamond">
            <a:avLst/>
          </a:prstGeom>
          <a:solidFill>
            <a:srgbClr val="0E7490"/>
          </a:solidFill>
          <a:ln/>
        </p:spPr>
      </p:sp>
      <p:sp>
        <p:nvSpPr>
          <p:cNvPr id="49" name="Text 47"/>
          <p:cNvSpPr/>
          <p:nvPr/>
        </p:nvSpPr>
        <p:spPr>
          <a:xfrm>
            <a:off x="8494776" y="5138928"/>
            <a:ext cx="3383280" cy="512064"/>
          </a:xfrm>
          <a:prstGeom prst="rect">
            <a:avLst/>
          </a:prstGeom>
          <a:noFill/>
          <a:ln/>
        </p:spPr>
        <p:txBody>
          <a:bodyPr wrap="square" lIns="0" tIns="0" rIns="0" bIns="0" rtlCol="0" anchor="ctr"/>
          <a:lstStyle/>
          <a:p>
            <a:pPr indent="0" marL="0">
              <a:buNone/>
            </a:pPr>
            <a:r>
              <a:rPr lang="en-US" sz="850" b="1" dirty="0">
                <a:solidFill>
                  <a:srgbClr val="0E7490"/>
                </a:solidFill>
                <a:latin typeface="Arial" pitchFamily="34" charset="0"/>
                <a:ea typeface="Arial" pitchFamily="34" charset="-122"/>
                <a:cs typeface="Arial" pitchFamily="34" charset="-120"/>
              </a:rPr>
              <a:t>Onderzoek  </a:t>
            </a:r>
            <a:pPr indent="0" marL="0">
              <a:buNone/>
            </a:pPr>
            <a:r>
              <a:rPr lang="en-US" sz="950" dirty="0">
                <a:solidFill>
                  <a:srgbClr val="4A5568"/>
                </a:solidFill>
                <a:latin typeface="Arial" pitchFamily="34" charset="0"/>
                <a:ea typeface="Arial" pitchFamily="34" charset="-122"/>
                <a:cs typeface="Arial" pitchFamily="34" charset="-120"/>
              </a:rPr>
              <a:t>2+ lectoraten actief, rol zichtbaar</a:t>
            </a:r>
            <a:endParaRPr lang="en-US" sz="850" dirty="0"/>
          </a:p>
        </p:txBody>
      </p:sp>
      <p:sp>
        <p:nvSpPr>
          <p:cNvPr id="50" name="Shape 48"/>
          <p:cNvSpPr/>
          <p:nvPr/>
        </p:nvSpPr>
        <p:spPr>
          <a:xfrm>
            <a:off x="8275320" y="5742432"/>
            <a:ext cx="109728" cy="109728"/>
          </a:xfrm>
          <a:prstGeom prst="diamond">
            <a:avLst/>
          </a:prstGeom>
          <a:solidFill>
            <a:srgbClr val="003DA5"/>
          </a:solidFill>
          <a:ln/>
        </p:spPr>
      </p:sp>
      <p:sp>
        <p:nvSpPr>
          <p:cNvPr id="51" name="Text 49"/>
          <p:cNvSpPr/>
          <p:nvPr/>
        </p:nvSpPr>
        <p:spPr>
          <a:xfrm>
            <a:off x="8494776" y="5669280"/>
            <a:ext cx="3383280" cy="512064"/>
          </a:xfrm>
          <a:prstGeom prst="rect">
            <a:avLst/>
          </a:prstGeom>
          <a:noFill/>
          <a:ln/>
        </p:spPr>
        <p:txBody>
          <a:bodyPr wrap="square" lIns="0" tIns="0" rIns="0" bIns="0" rtlCol="0" anchor="ctr"/>
          <a:lstStyle/>
          <a:p>
            <a:pPr indent="0" marL="0">
              <a:buNone/>
            </a:pPr>
            <a:r>
              <a:rPr lang="en-US" sz="850" b="1" dirty="0">
                <a:solidFill>
                  <a:srgbClr val="003DA5"/>
                </a:solidFill>
                <a:latin typeface="Arial" pitchFamily="34" charset="0"/>
                <a:ea typeface="Arial" pitchFamily="34" charset="-122"/>
                <a:cs typeface="Arial" pitchFamily="34" charset="-120"/>
              </a:rPr>
              <a:t>Sandbox  </a:t>
            </a:r>
            <a:pPr indent="0" marL="0">
              <a:buNone/>
            </a:pPr>
            <a:r>
              <a:rPr lang="en-US" sz="950" dirty="0">
                <a:solidFill>
                  <a:srgbClr val="4A5568"/>
                </a:solidFill>
                <a:latin typeface="Arial" pitchFamily="34" charset="0"/>
                <a:ea typeface="Arial" pitchFamily="34" charset="-122"/>
                <a:cs typeface="Arial" pitchFamily="34" charset="-120"/>
              </a:rPr>
              <a:t>Kennisbank pilotresultaten gedeeld</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3DA5"/>
        </a:solidFill>
      </p:bgPr>
    </p:bg>
    <p:spTree>
      <p:nvGrpSpPr>
        <p:cNvPr id="1" name=""/>
        <p:cNvGrpSpPr/>
        <p:nvPr/>
      </p:nvGrpSpPr>
      <p:grpSpPr>
        <a:xfrm>
          <a:off x="0" y="0"/>
          <a:ext cx="0" cy="0"/>
          <a:chOff x="0" y="0"/>
          <a:chExt cx="0" cy="0"/>
        </a:xfrm>
      </p:grpSpPr>
      <p:sp>
        <p:nvSpPr>
          <p:cNvPr id="2" name="Shape 0"/>
          <p:cNvSpPr/>
          <p:nvPr/>
        </p:nvSpPr>
        <p:spPr>
          <a:xfrm flipH="1">
            <a:off x="10149840" y="0"/>
            <a:ext cx="2039112" cy="1371600"/>
          </a:xfrm>
          <a:prstGeom prst="rtTriangle">
            <a:avLst/>
          </a:prstGeom>
          <a:solidFill>
            <a:srgbClr val="8C1D82"/>
          </a:solidFill>
          <a:ln/>
        </p:spPr>
      </p:sp>
      <p:sp>
        <p:nvSpPr>
          <p:cNvPr id="3" name="Shape 1"/>
          <p:cNvSpPr/>
          <p:nvPr/>
        </p:nvSpPr>
        <p:spPr>
          <a:xfrm flipH="1" flipV="1">
            <a:off x="10698480" y="960120"/>
            <a:ext cx="1490472" cy="1005840"/>
          </a:xfrm>
          <a:prstGeom prst="rtTriangle">
            <a:avLst/>
          </a:prstGeom>
          <a:solidFill>
            <a:srgbClr val="8C1D82">
              <a:alpha val="65000"/>
            </a:srgbClr>
          </a:solidFill>
          <a:ln/>
        </p:spPr>
      </p:sp>
      <p:sp>
        <p:nvSpPr>
          <p:cNvPr id="4" name="Shape 2"/>
          <p:cNvSpPr/>
          <p:nvPr/>
        </p:nvSpPr>
        <p:spPr>
          <a:xfrm>
            <a:off x="914400" y="5394960"/>
            <a:ext cx="256032" cy="256032"/>
          </a:xfrm>
          <a:prstGeom prst="diamond">
            <a:avLst/>
          </a:prstGeom>
          <a:solidFill>
            <a:srgbClr val="14181F"/>
          </a:solidFill>
          <a:ln/>
        </p:spPr>
      </p:sp>
      <p:sp>
        <p:nvSpPr>
          <p:cNvPr id="5" name="Shape 3"/>
          <p:cNvSpPr/>
          <p:nvPr/>
        </p:nvSpPr>
        <p:spPr>
          <a:xfrm>
            <a:off x="1225296" y="5705856"/>
            <a:ext cx="256032" cy="256032"/>
          </a:xfrm>
          <a:prstGeom prst="diamond">
            <a:avLst/>
          </a:prstGeom>
          <a:solidFill>
            <a:srgbClr val="14181F">
              <a:alpha val="55000"/>
            </a:srgbClr>
          </a:solidFill>
          <a:ln/>
        </p:spPr>
      </p:sp>
      <p:sp>
        <p:nvSpPr>
          <p:cNvPr id="6" name="Text 4"/>
          <p:cNvSpPr/>
          <p:nvPr/>
        </p:nvSpPr>
        <p:spPr>
          <a:xfrm>
            <a:off x="1097280" y="2103120"/>
            <a:ext cx="9966960" cy="1645920"/>
          </a:xfrm>
          <a:prstGeom prst="rect">
            <a:avLst/>
          </a:prstGeom>
          <a:noFill/>
          <a:ln/>
        </p:spPr>
        <p:txBody>
          <a:bodyPr wrap="square" lIns="0" tIns="0" rIns="0" bIns="0" rtlCol="0" anchor="ctr"/>
          <a:lstStyle/>
          <a:p>
            <a:pPr algn="ctr" indent="0" marL="0">
              <a:buNone/>
            </a:pPr>
            <a:r>
              <a:rPr lang="en-US" sz="3400" b="1" i="1" dirty="0">
                <a:solidFill>
                  <a:srgbClr val="FFFFFF"/>
                </a:solidFill>
                <a:latin typeface="Arial" pitchFamily="34" charset="0"/>
                <a:ea typeface="Arial" pitchFamily="34" charset="-122"/>
                <a:cs typeface="Arial" pitchFamily="34" charset="-120"/>
              </a:rPr>
              <a:t>"AI bij NHL Stenden: slimmer leren, sterker werken en verantwoord innoveren."</a:t>
            </a:r>
            <a:endParaRPr lang="en-US" sz="3400" dirty="0"/>
          </a:p>
        </p:txBody>
      </p:sp>
      <p:sp>
        <p:nvSpPr>
          <p:cNvPr id="7" name="Text 5"/>
          <p:cNvSpPr/>
          <p:nvPr/>
        </p:nvSpPr>
        <p:spPr>
          <a:xfrm>
            <a:off x="1097280" y="3931920"/>
            <a:ext cx="9966960" cy="457200"/>
          </a:xfrm>
          <a:prstGeom prst="rect">
            <a:avLst/>
          </a:prstGeom>
          <a:noFill/>
          <a:ln/>
        </p:spPr>
        <p:txBody>
          <a:bodyPr wrap="square" lIns="0" tIns="0" rIns="0" bIns="0" rtlCol="0" anchor="ctr"/>
          <a:lstStyle/>
          <a:p>
            <a:pPr algn="ctr" indent="0" marL="0">
              <a:buNone/>
            </a:pPr>
            <a:r>
              <a:rPr lang="en-US" sz="1700" b="1" dirty="0">
                <a:solidFill>
                  <a:srgbClr val="C9A8E8"/>
                </a:solidFill>
                <a:latin typeface="Arial" pitchFamily="34" charset="0"/>
                <a:ea typeface="Arial" pitchFamily="34" charset="-122"/>
                <a:cs typeface="Arial" pitchFamily="34" charset="-120"/>
              </a:rPr>
              <a:t>Zes thema's, vijf lagen, één kompas.</a:t>
            </a:r>
            <a:endParaRPr lang="en-US" sz="1700" dirty="0"/>
          </a:p>
        </p:txBody>
      </p:sp>
      <p:sp>
        <p:nvSpPr>
          <p:cNvPr id="8" name="Text 6"/>
          <p:cNvSpPr/>
          <p:nvPr/>
        </p:nvSpPr>
        <p:spPr>
          <a:xfrm>
            <a:off x="1097280" y="6126480"/>
            <a:ext cx="9966960" cy="320040"/>
          </a:xfrm>
          <a:prstGeom prst="rect">
            <a:avLst/>
          </a:prstGeom>
          <a:noFill/>
          <a:ln/>
        </p:spPr>
        <p:txBody>
          <a:bodyPr wrap="square" lIns="0" tIns="0" rIns="0" bIns="0" rtlCol="0" anchor="ctr"/>
          <a:lstStyle/>
          <a:p>
            <a:pPr algn="ctr" indent="0" marL="0">
              <a:buNone/>
            </a:pPr>
            <a:r>
              <a:rPr lang="en-US" sz="1050" dirty="0">
                <a:solidFill>
                  <a:srgbClr val="A9BEE3"/>
                </a:solidFill>
                <a:latin typeface="Arial" pitchFamily="34" charset="0"/>
                <a:ea typeface="Arial" pitchFamily="34" charset="-122"/>
                <a:cs typeface="Arial" pitchFamily="34" charset="-120"/>
              </a:rPr>
              <a:t>AI-Koers 2026 tot 2030  ·  versie 0.4 concept  ·  ai-netwerk-nhlstenden.netlify.app</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2026-07-17T07:38:45Z</dcterms:created>
  <dcterms:modified xsi:type="dcterms:W3CDTF">2026-07-17T07:38:45Z</dcterms:modified>
</cp:coreProperties>
</file>